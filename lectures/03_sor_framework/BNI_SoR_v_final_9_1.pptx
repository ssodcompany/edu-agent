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36576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■  SSOD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11680"/>
            <a:ext cx="10971887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7200" b="0" spc="-3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구조가 없으면,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3291840"/>
            <a:ext cx="10971887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7200" b="0" spc="-3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AI도 없습니다.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5303520"/>
            <a:ext cx="1097188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회사의 일하는 구조 — 데이터 · 일 · 판단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BNI K-Chapter Feature Presentation · 김지명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01 · 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02 · 자기소개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02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463040"/>
            <a:ext cx="10971887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600" b="0" spc="-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김지명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32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800" b="0" spc="20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쏘드 컴퍼니 · 대표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847" y="3246120"/>
            <a:ext cx="2286000" cy="411480"/>
          </a:xfrm>
          <a:prstGeom prst="roundRect">
            <a:avLst>
              <a:gd name="adj" fmla="val 485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2847" y="32918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1" spc="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B2B · 7년차 · 상주 컨설팅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0" y="4114800"/>
            <a:ext cx="822960" cy="0"/>
          </a:xfrm>
          <a:prstGeom prst="line">
            <a:avLst/>
          </a:prstGeom>
          <a:ln w="254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904" y="4434840"/>
            <a:ext cx="1097188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1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하는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4754880"/>
            <a:ext cx="10971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4000" b="0" spc="-1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회사의 일하는 구조를 만듭니다.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553212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7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데이터 · 일 · 판단 — 셋이 한 자리에 맞물리게.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03 · 함께한 자리들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03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20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도구 · 협업 · 강연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280160"/>
            <a:ext cx="10971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같은 진단 렌즈로 — 다양한 규모·직군에서.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286000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" y="2651760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200400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일하는 자리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3566160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공식 앰버서더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023" y="2286000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4023" y="2651760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n8n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023" y="3200400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자동화 혈관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023" y="3566160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공식 앰버서더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286000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8143" y="2651760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143" y="3200400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판단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8143" y="3566160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Anthropic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2263" y="2286000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2263" y="2651760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Microsoft 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2263" y="3200400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데이터 인입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2263" y="3566160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Office 365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" y="4279392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4645152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 Camp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" y="5193792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HR 본사 워크숍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" y="5559552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2025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4023" y="4279392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94023" y="4645152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상장사 onsite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4023" y="5193792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6개월 상주 컨설팅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4023" y="5559552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NDA · 익명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4279392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8143" y="4645152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Notion·n8n 공식 행사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8143" y="5193792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강연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8143" y="5559552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Seoul · Online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2263" y="4279392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FAF9F5"/>
          </a:solidFill>
          <a:ln w="190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2263" y="4645152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자유 슬롯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2263" y="5193792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발표 현장 photo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2263" y="5559552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사용자 drop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04 · 자격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04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1" spc="35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GLOBAL ·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37360"/>
            <a:ext cx="10971887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5600" b="0" spc="-2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둘 다 — 글로벌 공식 앰버서더.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5600" b="0" spc="-2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한국에서 한 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5367" y="5029200"/>
            <a:ext cx="3657600" cy="914400"/>
          </a:xfrm>
          <a:prstGeom prst="roundRect">
            <a:avLst>
              <a:gd name="adj" fmla="val 20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5367" y="5212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1" spc="40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NOTION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5532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spc="2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Official Ambassador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5029200"/>
            <a:ext cx="3657600" cy="914400"/>
          </a:xfrm>
          <a:prstGeom prst="roundRect">
            <a:avLst>
              <a:gd name="adj" fmla="val 20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5212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1" spc="40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n8n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5532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spc="2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Official Ambassador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05 ·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05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2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도구 · 세 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554480"/>
            <a:ext cx="1097188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회사가 어떻게 일해야 하는지 — 시스템으로 박아 둡니다.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91840"/>
            <a:ext cx="3474415" cy="2377440"/>
          </a:xfrm>
          <a:prstGeom prst="roundRect">
            <a:avLst>
              <a:gd name="adj" fmla="val 1384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4224" y="3566160"/>
            <a:ext cx="292577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" y="3931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" y="4663440"/>
            <a:ext cx="292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2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일하는 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" y="5074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메시지·결재·문서 한 자리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639" y="3291840"/>
            <a:ext cx="3474415" cy="2377440"/>
          </a:xfrm>
          <a:prstGeom prst="roundRect">
            <a:avLst>
              <a:gd name="adj" fmla="val 1384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2959" y="3566160"/>
            <a:ext cx="292577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959" y="3931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959" y="4663440"/>
            <a:ext cx="292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2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혈관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959" y="5074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데이터 자동 흐름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375" y="3291840"/>
            <a:ext cx="3474415" cy="2377440"/>
          </a:xfrm>
          <a:prstGeom prst="roundRect">
            <a:avLst>
              <a:gd name="adj" fmla="val 1384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1695" y="3566160"/>
            <a:ext cx="292577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695" y="3931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695" y="4663440"/>
            <a:ext cx="292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2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판단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695" y="5074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사람 머릿속 룰 → 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59436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→ 회사가 어떻게 일해야 하는지를 시스템으로.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06 · 오프닝 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06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세 가지만 묻고 시작하겠습니다.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82880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Q1.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8624" y="1691640"/>
            <a:ext cx="978316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어제 결정한 일 — 어디 적혀 있나요?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" y="2743200"/>
            <a:ext cx="10971887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904" y="32461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Q2.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8624" y="3108960"/>
            <a:ext cx="978316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고객 견적 요청 — 어디로 갑니까?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" y="4160520"/>
            <a:ext cx="10971887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904" y="466344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Q3.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8624" y="4526280"/>
            <a:ext cx="978316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지난달 매출 1등이 누구한테서 왔는지 — 한 번에 답 가능하세요?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548640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하나라도 "음, 어디 있더라…" 하셨다면 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585216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그 회사에 ChatGPT 깔아도, 일이 크게 바뀌진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07 · 데이터 — 회사의 진짜 사실 —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07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188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600" b="1" spc="200">
                <a:solidFill>
                  <a:srgbClr val="141413"/>
                </a:solidFill>
                <a:latin typeface="SF Mono"/>
                <a:ea typeface="SF Mono"/>
                <a:cs typeface="SF Mono"/>
              </a:rPr>
              <a:t>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286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System of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304" y="1188720"/>
            <a:ext cx="5485487" cy="4846320"/>
          </a:xfrm>
          <a:prstGeom prst="roundRect">
            <a:avLst>
              <a:gd name="adj" fmla="val 754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944" y="1828800"/>
            <a:ext cx="438820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데이터 — 회사의 진짜 사실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944" y="2286000"/>
            <a:ext cx="438820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어제 누가 뭘 샀고, 재고가 얼마고, 단골이 누군지. 회사에 사실로 적혀 있는 모든 것.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44944" y="4572000"/>
            <a:ext cx="4388207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44944" y="4800600"/>
            <a:ext cx="438820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944" y="5120640"/>
            <a:ext cx="438820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ERP · 회계 시스템 · 고객 명단 · 매출·재고·운영 지표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08 · 통찰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08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3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828800"/>
            <a:ext cx="10971887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거래 데이터만으로는 부족합니다.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389120"/>
            <a:ext cx="1097188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"우리 회사가 어떻게 판단하는지"도 같이 적혀 있어야 합니다.
이게 빠진 회사가 가장 많아요. 세 번째에서 다시 잡겠습니다.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09 · 일하는 자리 — 사람이 일하는 공간 —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09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188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600" b="1" spc="200">
                <a:solidFill>
                  <a:srgbClr val="141413"/>
                </a:solidFill>
                <a:latin typeface="SF Mono"/>
                <a:ea typeface="SF Mono"/>
                <a:cs typeface="SF Mono"/>
              </a:rPr>
              <a:t>SoE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286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System of Engagement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304" y="1188720"/>
            <a:ext cx="5485487" cy="4846320"/>
          </a:xfrm>
          <a:prstGeom prst="roundRect">
            <a:avLst>
              <a:gd name="adj" fmla="val 754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944" y="1828800"/>
            <a:ext cx="438820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일하는 자리 — 사람이 일하는 공간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944" y="2286000"/>
            <a:ext cx="438820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직원들이 진짜로 일하는 공간. 메시지가 오가고, 결정이 내려지는 곳.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44944" y="4572000"/>
            <a:ext cx="4388207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44944" y="4800600"/>
            <a:ext cx="438820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944" y="5120640"/>
            <a:ext cx="438820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카톡방 · 슬랙 · 노션 · 이메일 · 결재 시스템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10 · 통찰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10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3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SoE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828800"/>
            <a:ext cx="10971887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AI는 이 공간 안으로 — 들어와야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389120"/>
            <a:ext cx="1097188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AI 에이전트가 일하려면, 사람들이 이미 모여 있는 자리에서 호출되고 응답해야 합니다.
"AI 콘솔 따로 열어서 명령" 모델은 무너집니다.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11 · 판단 — 결정이 내려지는 자리 —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11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188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6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286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System of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304" y="1188720"/>
            <a:ext cx="5485487" cy="4846320"/>
          </a:xfrm>
          <a:prstGeom prst="roundRect">
            <a:avLst>
              <a:gd name="adj" fmla="val 754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944" y="1828800"/>
            <a:ext cx="438820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1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판단 — 결정이 내려지는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944" y="2286000"/>
            <a:ext cx="438820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데이터를 보고 결정으로 바꿔주는 자리. 옛날엔 사장님이었고, 지금은 대시보드·AI 에이전트가 그 역할을 합니다.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44944" y="4572000"/>
            <a:ext cx="4388207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44944" y="4800600"/>
            <a:ext cx="438820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944" y="5120640"/>
            <a:ext cx="438820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대시보드 · AI 에이전트 · 사장님·임원의 직관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12 · 통찰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12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828800"/>
            <a:ext cx="10971887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사람이 판단할 때 — 룰은 그 사람 머릿속에.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389120"/>
            <a:ext cx="1097188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AI가 그 자리를 받으려면? 그 룰이 데이터 옆에 같이 적혀 있어야 합니다.
데이터만 있고 룰이 없으면 AI는 아무 판단이나 내요.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13 · AI 시대 — 3축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13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AI 시대에 필요한 것은 — 셋, 그리고 그 연결.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371600"/>
            <a:ext cx="1097188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셋을 갖추는 것 + 셋을 잇는 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743200"/>
            <a:ext cx="3352495" cy="2194560"/>
          </a:xfrm>
          <a:prstGeom prst="roundRect">
            <a:avLst>
              <a:gd name="adj" fmla="val 1666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" y="3017520"/>
            <a:ext cx="335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800" b="1" spc="200">
                <a:solidFill>
                  <a:srgbClr val="141413"/>
                </a:solidFill>
                <a:latin typeface="SF Mono"/>
                <a:ea typeface="SF Mono"/>
                <a:cs typeface="SF Mono"/>
              </a:rPr>
              <a:t>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56616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420624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회사에 적힌 사실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599" y="2743200"/>
            <a:ext cx="3352495" cy="2194560"/>
          </a:xfrm>
          <a:prstGeom prst="roundRect">
            <a:avLst>
              <a:gd name="adj" fmla="val 1666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9599" y="3017520"/>
            <a:ext cx="335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800" b="1" spc="200">
                <a:solidFill>
                  <a:srgbClr val="141413"/>
                </a:solidFill>
                <a:latin typeface="SF Mono"/>
                <a:ea typeface="SF Mono"/>
                <a:cs typeface="SF Mono"/>
              </a:rPr>
              <a:t>SoE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9599" y="356616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일하는 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599" y="420624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사람들이 모이는 공간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295" y="2743200"/>
            <a:ext cx="3352495" cy="2194560"/>
          </a:xfrm>
          <a:prstGeom prst="roundRect">
            <a:avLst>
              <a:gd name="adj" fmla="val 1666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295" y="3017520"/>
            <a:ext cx="335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800" b="1" spc="200">
                <a:solidFill>
                  <a:srgbClr val="141413"/>
                </a:solidFill>
                <a:latin typeface="SF Mono"/>
                <a:ea typeface="SF Mono"/>
                <a:cs typeface="SF Mono"/>
              </a:rPr>
              <a:t>SoI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295" y="356616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295" y="420624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결정이 내려지는 자리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151.833333333" y="5212080"/>
            <a:ext cx="3809695.666666667" cy="0"/>
          </a:xfrm>
          <a:prstGeom prst="line">
            <a:avLst/>
          </a:prstGeom>
          <a:ln w="25400">
            <a:solidFill>
              <a:srgbClr val="7A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5847.5" y="5212080"/>
            <a:ext cx="3809695.666666666" cy="0"/>
          </a:xfrm>
          <a:prstGeom prst="line">
            <a:avLst/>
          </a:prstGeom>
          <a:ln w="25400">
            <a:solidFill>
              <a:srgbClr val="7A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9904" y="585216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셋을 잇는 자리 — 그게 SSOD입니다.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14 · SSOD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14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9144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쏘드 컴퍼니, SSOD라고도 씁니다.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828800"/>
            <a:ext cx="2742971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0" b="0" spc="-4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383280"/>
            <a:ext cx="274297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75" y="1828800"/>
            <a:ext cx="2742971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0" b="0" spc="-4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75" y="3383280"/>
            <a:ext cx="274297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1828800"/>
            <a:ext cx="2742971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0" b="0" spc="-4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3383280"/>
            <a:ext cx="274297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Self · Other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8819" y="1828800"/>
            <a:ext cx="2742971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0" b="0" spc="-4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8819" y="3383280"/>
            <a:ext cx="274297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502920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800" b="1" spc="300">
                <a:solidFill>
                  <a:srgbClr val="141413"/>
                </a:solidFill>
                <a:latin typeface="SF Mono"/>
                <a:ea typeface="SF Mono"/>
                <a:cs typeface="SF Mono"/>
              </a:rPr>
              <a:t>Sync with Self · Other ·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557784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8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개인 · 조직 · 데이터 — 셋을 한 자리에 맞추는 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15 · SSOD ↔ SoX 매핑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15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914400"/>
            <a:ext cx="10971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300">
                <a:solidFill>
                  <a:srgbClr val="141413"/>
                </a:solidFill>
                <a:latin typeface="SF Mono"/>
                <a:ea typeface="SF Mono"/>
                <a:cs typeface="SF Mono"/>
              </a:rPr>
              <a:t>Sync with Self · Other ·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828800"/>
            <a:ext cx="10971887" cy="1188720"/>
          </a:xfrm>
          <a:prstGeom prst="roundRect">
            <a:avLst>
              <a:gd name="adj" fmla="val 2307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7104" y="2103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7104" y="2514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나 자신과 맞추는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304" y="22402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904" y="2057400"/>
            <a:ext cx="59426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판단 — SoI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904" y="2560320"/>
            <a:ext cx="59426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결정이 내려지는 자리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3182112"/>
            <a:ext cx="10971887" cy="1188720"/>
          </a:xfrm>
          <a:prstGeom prst="roundRect">
            <a:avLst>
              <a:gd name="adj" fmla="val 2307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7104" y="34564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7104" y="38679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사람·조직과 맞추는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304" y="359359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904" y="3410712"/>
            <a:ext cx="59426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일하는 자리 — SoE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904" y="3913632"/>
            <a:ext cx="59426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메시지·결재가 흐르는 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" y="4535424"/>
            <a:ext cx="10971887" cy="1188720"/>
          </a:xfrm>
          <a:prstGeom prst="roundRect">
            <a:avLst>
              <a:gd name="adj" fmla="val 23076"/>
            </a:avLst>
          </a:prstGeom>
          <a:solidFill>
            <a:srgbClr val="FAF9F5"/>
          </a:solidFill>
          <a:ln w="2540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7104" y="480974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7104" y="522122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데이터와 맞추는 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304" y="494690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904" y="4764024"/>
            <a:ext cx="59426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기록 — 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904" y="5266944"/>
            <a:ext cx="59426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회사에 적힌 사실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" y="594360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8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셋을 한 자리에 맞추는 일 — SSOD가 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16 · 함께한 일들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16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이 일을 — 어디서 어떻게 하고 있는지.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828800"/>
            <a:ext cx="2605811" cy="3291840"/>
          </a:xfrm>
          <a:prstGeom prst="roundRect">
            <a:avLst>
              <a:gd name="adj" fmla="val 1052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3017520"/>
            <a:ext cx="26058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[ photo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" y="5257800"/>
            <a:ext cx="22400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 Camp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" y="5623560"/>
            <a:ext cx="22400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노션 본사 워크숍 ·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8595" y="1828800"/>
            <a:ext cx="2605811" cy="3291840"/>
          </a:xfrm>
          <a:prstGeom prst="roundRect">
            <a:avLst>
              <a:gd name="adj" fmla="val 1052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8595" y="3017520"/>
            <a:ext cx="26058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[ photo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75" y="5257800"/>
            <a:ext cx="22400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상장사·중견기업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75" y="5623560"/>
            <a:ext cx="22400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6개월 상주 컨설팅 · 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828800"/>
            <a:ext cx="2605811" cy="3291840"/>
          </a:xfrm>
          <a:prstGeom prst="roundRect">
            <a:avLst>
              <a:gd name="adj" fmla="val 1052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7287" y="3017520"/>
            <a:ext cx="26058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[ photo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57800"/>
            <a:ext cx="22400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n8n·Notion 공식 행사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5623560"/>
            <a:ext cx="22400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강연 · Seoul · Online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5979" y="1828800"/>
            <a:ext cx="2605811" cy="3291840"/>
          </a:xfrm>
          <a:prstGeom prst="roundRect">
            <a:avLst>
              <a:gd name="adj" fmla="val 10527"/>
            </a:avLst>
          </a:prstGeom>
          <a:solidFill>
            <a:srgbClr val="FAF9F5"/>
          </a:solidFill>
          <a:ln w="2540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5979" y="3017520"/>
            <a:ext cx="26058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[ photo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8859" y="5257800"/>
            <a:ext cx="22400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자유 슬롯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8859" y="5623560"/>
            <a:ext cx="22400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발표 현장 photo 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644652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직군 · 회사 크기 달라도 — 진단 렌즈는 같습니다.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17 · TAKE-AWAY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17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716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35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오늘의 한 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194560"/>
            <a:ext cx="10971887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7200" b="0" spc="-3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구조가 없으면,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7200" b="0" spc="-3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AI도 없습니다.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5120640"/>
            <a:ext cx="10971887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데이터는 사장님 노트북에.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8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일은 카톡방에.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8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판단은 사장님 머릿속에.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18 · 사례 — BEFORE →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18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두 상장사급 회사 — 진단 패턴이 같은 두 곳을 섞었습니다.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554480"/>
            <a:ext cx="5257343" cy="45720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7104" y="192024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3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7104" y="2377440"/>
            <a:ext cx="434294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데이터 뽑을 줄 아는 사람 한 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7104" y="338328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✓  ERP에 매출·재고·운영 지표 매일 정확히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7104" y="379476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✓  결재 시스템 안에서 정상 작동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7104" y="420624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9583E"/>
                </a:solidFill>
                <a:latin typeface="Pretendard"/>
                <a:ea typeface="Pretendard"/>
                <a:cs typeface="Pretendard"/>
              </a:rPr>
              <a:t>✗  임원 "어제 어디가 잘 됐지" 한 줄 → 몇 시간 대기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7104" y="461772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9583E"/>
                </a:solidFill>
                <a:latin typeface="Pretendard"/>
                <a:ea typeface="Pretendard"/>
                <a:cs typeface="Pretendard"/>
              </a:rPr>
              <a:t>✗  담당자 매일 출근 후 2-3시간 엑셀 복붙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7104" y="502920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9583E"/>
                </a:solidFill>
                <a:latin typeface="Pretendard"/>
                <a:ea typeface="Pretendard"/>
                <a:cs typeface="Pretendard"/>
              </a:rPr>
              <a:t>✗  담당자 휴가 = 임원도 어제를 모름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554480"/>
            <a:ext cx="5257343" cy="4572000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1647" y="192024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AFTER — 6개월 상주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647" y="2377440"/>
            <a:ext cx="434294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 spc="-1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기다림이 사라졌어요.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647" y="338328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→  ERP 숫자 매일 자동 노션 DB로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379476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→  본사·현장·임원 동선 노션 안으로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647" y="420624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→  매일 출근 전 어제 지표 임원 화면 자동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647" y="461772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→  이상 지점 → 담당 부서에 업무 자동 분배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647" y="502920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→  회의 들어가기 전 결정 한 단계 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626364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규모는 달라도 진단은 같아요 — 구조가 있는가, 없는가.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19 · AI 본질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19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9144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AI 시대에 진짜 비싼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645920"/>
            <a:ext cx="10971887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5600" b="0" spc="-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AI는 일하는 구조를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5600" b="0" spc="-3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스스로 못 만듭니다.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572000"/>
            <a:ext cx="10971887" cy="1645920"/>
          </a:xfrm>
          <a:prstGeom prst="roundRect">
            <a:avLst>
              <a:gd name="adj" fmla="val 22222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8544" y="4800600"/>
            <a:ext cx="9874607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사람 머릿속 판단 기준 →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8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사람이 사람한테 묻고 정리해서 →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9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데이터 옆에 같이 적어 둬야 — AI가 일을 시작합니다.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20 · 글로벌 reference — 팔란티어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20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4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PALANTIR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37360"/>
            <a:ext cx="5486400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엔지니어를</a:t>
            </a:r>
          </a:p>
          <a:p>
            <a:pPr algn="l">
              <a:lnSpc>
                <a:spcPct val="115000"/>
              </a:lnSpc>
            </a:pPr>
            <a:r>
              <a:rPr sz="44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고객 회사 안에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4400" b="0" spc="-2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직접 들여보내는 방식.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504" y="1097280"/>
            <a:ext cx="5028287" cy="4937760"/>
          </a:xfrm>
          <a:prstGeom prst="roundRect">
            <a:avLst>
              <a:gd name="adj" fmla="val 7407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0704" y="1463040"/>
            <a:ext cx="4113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20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Forward Deployed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704" y="1920240"/>
            <a:ext cx="4113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400" b="1" spc="-10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회사 안 상주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10704" y="2697480"/>
            <a:ext cx="4113887" cy="0"/>
          </a:xfrm>
          <a:prstGeom prst="line">
            <a:avLst/>
          </a:prstGeom>
          <a:ln w="12700">
            <a:solidFill>
              <a:srgbClr val="2523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10704" y="2926080"/>
            <a:ext cx="4113887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본사 사무실에 앉히지 않고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고객 회사 안에 데려다 놓습니다.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6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어떻게 판단하는지 — 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600" b="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옆에서 같이 일하면서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600" b="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데이터 옆에 정리해 둡니다.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400" b="0" spc="-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그게 — 그 회사 방식이고 본질입니다.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21 · 같은 방식 — 한국에선 쏘드가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21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같은 방식 — 회사를 옆에서 직접 짓는 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37360"/>
            <a:ext cx="1097188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5600" b="0" spc="-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한국에선 — 쏘드가 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00400"/>
            <a:ext cx="10971887" cy="2926080"/>
          </a:xfrm>
          <a:prstGeom prst="roundRect">
            <a:avLst>
              <a:gd name="adj" fmla="val 125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4224" y="3474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1519" y="3474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팔란티어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815" y="3474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쏘드의 방식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4224" y="3977640"/>
            <a:ext cx="10423247" cy="0"/>
          </a:xfrm>
          <a:prstGeom prst="line">
            <a:avLst/>
          </a:prstGeom>
          <a:ln w="1905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4224" y="411480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519" y="411480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본사 사무실에 앉히지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8815" y="4114800"/>
            <a:ext cx="338297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본사 사무실에 앉히지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" y="4617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어디로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19" y="4617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고객 회사 안에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8815" y="4617720"/>
            <a:ext cx="338297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고객 회사 안에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" y="512064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519" y="512064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프로젝트 단위 상주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8815" y="5120640"/>
            <a:ext cx="338297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6개월 ~ 1년 상주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" y="562356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19" y="562356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판단 기준 → 데이터 옆에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8815" y="5623560"/>
            <a:ext cx="338297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한국 회사 OS 맥락에서 —
카톡·ERP·노션 결합으로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22 ·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22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28600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그래서 — 어떻게 만드냐.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017520"/>
            <a:ext cx="10971887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6400" b="0" spc="-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도구 — 네 가지로.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502920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6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Notion · n8n · Claude · Microsoft Excel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23 · 도구 3종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23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회사의 일하는 구조 — 어떻게 만드는가.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2103120"/>
            <a:ext cx="3474415" cy="3200400"/>
          </a:xfrm>
          <a:prstGeom prst="roundRect">
            <a:avLst>
              <a:gd name="adj" fmla="val 11428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664" y="2468880"/>
            <a:ext cx="2742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5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SoE — 일하는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664" y="3017520"/>
            <a:ext cx="274289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0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5664.0" y="3931920"/>
            <a:ext cx="2742895.6666666665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5664" y="4114800"/>
            <a:ext cx="274289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메시지·결재·문서가 한 자리에 모이게.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39" y="2103120"/>
            <a:ext cx="3474415" cy="3200400"/>
          </a:xfrm>
          <a:prstGeom prst="roundRect">
            <a:avLst>
              <a:gd name="adj" fmla="val 11428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4399" y="2468880"/>
            <a:ext cx="2742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5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SoR — 데이터 인입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399" y="3017520"/>
            <a:ext cx="274289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0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Excel → Notion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24399.666666666" y="3931920"/>
            <a:ext cx="2742895.666666666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24399" y="4114800"/>
            <a:ext cx="274289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회사 곳곳에 흩어진 엑셀들을 Notion으로.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375" y="2103120"/>
            <a:ext cx="3474415" cy="3200400"/>
          </a:xfrm>
          <a:prstGeom prst="roundRect">
            <a:avLst>
              <a:gd name="adj" fmla="val 11428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3135" y="2468880"/>
            <a:ext cx="2742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5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SoI — 판단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3135" y="3017520"/>
            <a:ext cx="274289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0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Claude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73135.333333332" y="3931920"/>
            <a:ext cx="2742895.666666668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73135" y="4114800"/>
            <a:ext cx="274289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사람 머릿속 기준을 코드로 옮겨 적고 자동 판단.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557784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↓  ↓ 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598932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셋을 잇는 자리가 — 다음 슬라이드.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24 · 혈관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24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3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셋을 잇는 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3736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0" b="0" spc="-4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n8n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206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3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automation vessel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3504" y="1097280"/>
            <a:ext cx="5028287" cy="4937760"/>
          </a:xfrm>
          <a:prstGeom prst="roundRect">
            <a:avLst>
              <a:gd name="adj" fmla="val 7407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10704" y="1554480"/>
            <a:ext cx="4113887" cy="822960"/>
          </a:xfrm>
          <a:prstGeom prst="roundRect">
            <a:avLst>
              <a:gd name="adj" fmla="val 26666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5024" y="1737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1783080"/>
            <a:ext cx="237652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10704" y="2560320"/>
            <a:ext cx="4113887" cy="822960"/>
          </a:xfrm>
          <a:prstGeom prst="roundRect">
            <a:avLst>
              <a:gd name="adj" fmla="val 26666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5024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8064" y="2788920"/>
            <a:ext cx="237652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일하는 자리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0704" y="3566160"/>
            <a:ext cx="4113887" cy="822960"/>
          </a:xfrm>
          <a:prstGeom prst="roundRect">
            <a:avLst>
              <a:gd name="adj" fmla="val 26666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5024" y="37490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8064" y="3794760"/>
            <a:ext cx="237652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10704" y="4754880"/>
            <a:ext cx="4113887" cy="457200"/>
          </a:xfrm>
          <a:prstGeom prst="roundRect">
            <a:avLst>
              <a:gd name="adj" fmla="val 32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0704" y="4846320"/>
            <a:ext cx="411388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1" spc="25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n8n  ·  data flows 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704" y="5394960"/>
            <a:ext cx="4113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이 네 가지로 — 회사의 일하는 구조를 만듭니다.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25 · CLOSING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25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645920"/>
            <a:ext cx="10971887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0" b="0" spc="-40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구조가 없으면,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8000" b="0" spc="-4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AI도 없습니다.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12064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800" b="0" spc="-1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그 구조를 — SSOD가 만듭니다.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576072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6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사람이 사람 옆에서 같이 — 데이터·일·판단을 한 자리에.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26 · 앞으로 — 두 길로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26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9144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어느 회사든 — 같은 구조를 깔 수 있게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463040"/>
            <a:ext cx="10971887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5200" b="0" spc="-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쏘드는 — 두 길로 갑니다.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91840"/>
            <a:ext cx="5303063" cy="2651760"/>
          </a:xfrm>
          <a:prstGeom prst="roundRect">
            <a:avLst>
              <a:gd name="adj" fmla="val 13793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7104" y="3657600"/>
            <a:ext cx="43886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큰 회사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7104" y="4069080"/>
            <a:ext cx="4388663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1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회사 안에 들어가서, 같이 일하면서.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7104" y="4983480"/>
            <a:ext cx="43886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3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100명 ~ · 디지털 전환 + AI 전환이 복잡해지는 곳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67104" y="5303520"/>
            <a:ext cx="4388663.5" cy="0"/>
          </a:xfrm>
          <a:prstGeom prst="line">
            <a:avLst/>
          </a:prstGeom>
          <a:ln w="12700">
            <a:solidFill>
              <a:srgbClr val="2523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7104" y="5440680"/>
            <a:ext cx="438866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-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쏘드의 본업 · 상주 컨설팅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3291840"/>
            <a:ext cx="5303063" cy="2651760"/>
          </a:xfrm>
          <a:prstGeom prst="roundRect">
            <a:avLst>
              <a:gd name="adj" fmla="val 13793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5927" y="3657600"/>
            <a:ext cx="43886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더 작은 회사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4069080"/>
            <a:ext cx="4388663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쏘드가 만든 구조를 가져가서.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4983480"/>
            <a:ext cx="43886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3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Notion 시스템 패키지  +  직접 만드는 법 강의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35927.5" y="5303520"/>
            <a:ext cx="4388663.5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35927" y="5440680"/>
            <a:ext cx="438866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3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지금 만들고 있습니다 · 자기 회사에 직접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" y="61722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상주는 쏘드가, 패키지·강의는 — 누구나. 한국 회사의 일하는 구조를 같이 짓겠습니다.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27 · REFERRAL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27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9144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4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오늘의 부탁 한 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554480"/>
            <a:ext cx="10971887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000" b="0" spc="-1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거래처·지인 중에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3800" b="1" spc="-1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ERP는 있는데 엑셀에 의존하는 회사 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4800" b="0" spc="-2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저를 떠올려주세요.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5262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데이터·일·판단이 사장님 머릿속에만 있는 회사면 — 더 정확하게 매칭됩니다.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5120640"/>
            <a:ext cx="5348783" cy="777240"/>
          </a:xfrm>
          <a:prstGeom prst="roundRect">
            <a:avLst>
              <a:gd name="adj" fmla="val 23529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664" y="5230368"/>
            <a:ext cx="46172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큰 회사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664" y="5504688"/>
            <a:ext cx="461726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→  상주 컨설팅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5120640"/>
            <a:ext cx="5348783" cy="777240"/>
          </a:xfrm>
          <a:prstGeom prst="roundRect">
            <a:avLst>
              <a:gd name="adj" fmla="val 23529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5230368"/>
            <a:ext cx="46172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작은 회사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5504688"/>
            <a:ext cx="461726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→  Notion 시스템 패키지·강의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1722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회사의 일하는 구조를 만드는 일 — 쏘드 컴퍼니의 김지명이었습니다.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