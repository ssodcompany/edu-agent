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png"/><Relationship Id="rId11" Type="http://schemas.openxmlformats.org/officeDocument/2006/relationships/image" Target="../media/image13.png"/><Relationship Id="rId12" Type="http://schemas.openxmlformats.org/officeDocument/2006/relationships/image" Target="../media/image14.png"/><Relationship Id="rId13" Type="http://schemas.openxmlformats.org/officeDocument/2006/relationships/image" Target="../media/image15.png"/><Relationship Id="rId14" Type="http://schemas.openxmlformats.org/officeDocument/2006/relationships/image" Target="../media/image16.png"/><Relationship Id="rId15" Type="http://schemas.openxmlformats.org/officeDocument/2006/relationships/image" Target="../media/image17.png"/><Relationship Id="rId16" Type="http://schemas.openxmlformats.org/officeDocument/2006/relationships/image" Target="../media/image18.png"/><Relationship Id="rId17" Type="http://schemas.openxmlformats.org/officeDocument/2006/relationships/image" Target="../media/image19.png"/><Relationship Id="rId18" Type="http://schemas.openxmlformats.org/officeDocument/2006/relationships/image" Target="../media/image2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1_bg_patte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411480" y="411480"/>
            <a:ext cx="256032" cy="0"/>
          </a:xfrm>
          <a:prstGeom prst="line">
            <a:avLst/>
          </a:prstGeom>
          <a:ln w="9525">
            <a:solidFill>
              <a:srgbClr val="6266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11480" y="411480"/>
            <a:ext cx="0" cy="256032"/>
          </a:xfrm>
          <a:prstGeom prst="line">
            <a:avLst/>
          </a:prstGeom>
          <a:ln w="9525">
            <a:solidFill>
              <a:srgbClr val="6266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11524183" y="411480"/>
            <a:ext cx="256032" cy="0"/>
          </a:xfrm>
          <a:prstGeom prst="line">
            <a:avLst/>
          </a:prstGeom>
          <a:ln w="9525">
            <a:solidFill>
              <a:srgbClr val="6266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780215" y="411480"/>
            <a:ext cx="0" cy="256032"/>
          </a:xfrm>
          <a:prstGeom prst="line">
            <a:avLst/>
          </a:prstGeom>
          <a:ln w="9525">
            <a:solidFill>
              <a:srgbClr val="6266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11480" y="6446520"/>
            <a:ext cx="256032" cy="0"/>
          </a:xfrm>
          <a:prstGeom prst="line">
            <a:avLst/>
          </a:prstGeom>
          <a:ln w="9525">
            <a:solidFill>
              <a:srgbClr val="6266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11480" y="6190488"/>
            <a:ext cx="0" cy="256032"/>
          </a:xfrm>
          <a:prstGeom prst="line">
            <a:avLst/>
          </a:prstGeom>
          <a:ln w="9525">
            <a:solidFill>
              <a:srgbClr val="6266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11524183" y="6446520"/>
            <a:ext cx="256032" cy="0"/>
          </a:xfrm>
          <a:prstGeom prst="line">
            <a:avLst/>
          </a:prstGeom>
          <a:ln w="9525">
            <a:solidFill>
              <a:srgbClr val="6266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780215" y="6190488"/>
            <a:ext cx="0" cy="256032"/>
          </a:xfrm>
          <a:prstGeom prst="line">
            <a:avLst/>
          </a:prstGeom>
          <a:ln w="9525">
            <a:solidFill>
              <a:srgbClr val="6266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0" y="1737360"/>
            <a:ext cx="12191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spc="242">
                <a:solidFill>
                  <a:srgbClr val="62666D"/>
                </a:solidFill>
                <a:latin typeface="SF Mono"/>
                <a:ea typeface="SF Mono"/>
                <a:cs typeface="SF Mono"/>
              </a:rPr>
              <a:t>03  ·  SOR FRAMEWORK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233172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AI 시대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2926080"/>
            <a:ext cx="12191695" cy="1463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200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준비해야하는 일의 구조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84367.5" y="4617720"/>
            <a:ext cx="822960.0" cy="0"/>
          </a:xfrm>
          <a:prstGeom prst="line">
            <a:avLst/>
          </a:prstGeom>
          <a:ln w="19050">
            <a:solidFill>
              <a:srgbClr val="5E6A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15" descr="ssod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3168" y="5074920"/>
            <a:ext cx="985359" cy="64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0" y="5989320"/>
            <a:ext cx="12191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spc="180">
                <a:solidFill>
                  <a:srgbClr val="62666D"/>
                </a:solidFill>
                <a:latin typeface="SF Mono"/>
                <a:ea typeface="SF Mono"/>
                <a:cs typeface="SF Mono"/>
              </a:rPr>
              <a:t>BNI K-CHAPTER   ·   2026.05.27   ·   김지명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65760" y="6144768"/>
            <a:ext cx="11460175" cy="0"/>
          </a:xfrm>
          <a:prstGeom prst="line">
            <a:avLst/>
          </a:prstGeom>
          <a:ln w="6350">
            <a:solidFill>
              <a:srgbClr val="232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365760" y="637336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9525"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spc="40">
                <a:solidFill>
                  <a:srgbClr val="8A8F98"/>
                </a:solidFill>
                <a:latin typeface="SF Mono"/>
                <a:ea typeface="SF Mono"/>
                <a:cs typeface="SF Mono"/>
              </a:rPr>
              <a:t>02 / 14</a:t>
            </a:r>
          </a:p>
        </p:txBody>
      </p:sp>
      <p:pic>
        <p:nvPicPr>
          <p:cNvPr id="5" name="Picture 4" descr="ssod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188" y="6236208"/>
            <a:ext cx="872747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1463040"/>
            <a:ext cx="12191695" cy="8229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0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오늘 가져가실 2가지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017520"/>
            <a:ext cx="12191695" cy="274320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pPr algn="ctr">
              <a:spcAft>
                <a:spcPts val="2800"/>
              </a:spcAft>
            </a:pPr>
            <a:r>
              <a:rPr sz="4000">
                <a:solidFill>
                  <a:srgbClr val="F7F8F8"/>
                </a:solidFill>
                <a:latin typeface="Pretendard Light"/>
                <a:ea typeface="Pretendard Light"/>
                <a:cs typeface="Pretendard Light"/>
              </a:rPr>
              <a:t>①  SSOD는 무엇을 하는가?</a:t>
            </a:r>
          </a:p>
          <a:p>
            <a:pPr algn="ctr">
              <a:spcAft>
                <a:spcPts val="2800"/>
              </a:spcAft>
            </a:pPr>
            <a:r>
              <a:rPr sz="4000">
                <a:solidFill>
                  <a:srgbClr val="F7F8F8"/>
                </a:solidFill>
                <a:latin typeface="Pretendard Light"/>
                <a:ea typeface="Pretendard Light"/>
                <a:cs typeface="Pretendard Light"/>
              </a:rPr>
              <a:t>②  우리 회사는?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65760" y="6144768"/>
            <a:ext cx="11460175" cy="0"/>
          </a:xfrm>
          <a:prstGeom prst="line">
            <a:avLst/>
          </a:prstGeom>
          <a:ln w="6350">
            <a:solidFill>
              <a:srgbClr val="232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365760" y="637336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9525"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spc="40">
                <a:solidFill>
                  <a:srgbClr val="8A8F98"/>
                </a:solidFill>
                <a:latin typeface="SF Mono"/>
                <a:ea typeface="SF Mono"/>
                <a:cs typeface="SF Mono"/>
              </a:rPr>
              <a:t>03 / 14</a:t>
            </a:r>
          </a:p>
        </p:txBody>
      </p:sp>
      <p:pic>
        <p:nvPicPr>
          <p:cNvPr id="5" name="Picture 4" descr="ssod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188" y="6236208"/>
            <a:ext cx="872747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1645920"/>
            <a:ext cx="12191695" cy="320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4000" spc="-840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7년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B2B 컨설팅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65760" y="6144768"/>
            <a:ext cx="11460175" cy="0"/>
          </a:xfrm>
          <a:prstGeom prst="line">
            <a:avLst/>
          </a:prstGeom>
          <a:ln w="6350">
            <a:solidFill>
              <a:srgbClr val="232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365760" y="637336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9525"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spc="40">
                <a:solidFill>
                  <a:srgbClr val="8A8F98"/>
                </a:solidFill>
                <a:latin typeface="SF Mono"/>
                <a:ea typeface="SF Mono"/>
                <a:cs typeface="SF Mono"/>
              </a:rPr>
              <a:t>04 / 14</a:t>
            </a:r>
          </a:p>
        </p:txBody>
      </p:sp>
      <p:pic>
        <p:nvPicPr>
          <p:cNvPr id="5" name="Picture 4" descr="ssod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188" y="6236208"/>
            <a:ext cx="872747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1280160"/>
            <a:ext cx="12191695" cy="20116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0" spc="-455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국내 유일</a:t>
            </a:r>
          </a:p>
        </p:txBody>
      </p:sp>
      <p:pic>
        <p:nvPicPr>
          <p:cNvPr id="7" name="Picture 6" descr="notion-ambassador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6943" y="4160520"/>
            <a:ext cx="3271024" cy="1005840"/>
          </a:xfrm>
          <a:prstGeom prst="rect">
            <a:avLst/>
          </a:prstGeom>
        </p:spPr>
      </p:pic>
      <p:pic>
        <p:nvPicPr>
          <p:cNvPr id="8" name="Picture 7" descr="n8n-amber-ssod-bl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9447" y="4160520"/>
            <a:ext cx="3575304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0" y="55778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이중 앰버서더는 국내 SSOD뿐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65760" y="6144768"/>
            <a:ext cx="11460175" cy="0"/>
          </a:xfrm>
          <a:prstGeom prst="line">
            <a:avLst/>
          </a:prstGeom>
          <a:ln w="6350">
            <a:solidFill>
              <a:srgbClr val="232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365760" y="637336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9525"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spc="40">
                <a:solidFill>
                  <a:srgbClr val="8A8F98"/>
                </a:solidFill>
                <a:latin typeface="SF Mono"/>
                <a:ea typeface="SF Mono"/>
                <a:cs typeface="SF Mono"/>
              </a:rPr>
              <a:t>05 / 14</a:t>
            </a:r>
          </a:p>
        </p:txBody>
      </p:sp>
      <p:pic>
        <p:nvPicPr>
          <p:cNvPr id="5" name="Picture 4" descr="ssod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188" y="6236208"/>
            <a:ext cx="872747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2560320"/>
            <a:ext cx="12191695" cy="1828800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pPr algn="ctr"/>
            <a:r>
              <a:rPr sz="16000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3</a:t>
            </a:r>
            <a:r>
              <a:rPr sz="12000">
                <a:solidFill>
                  <a:srgbClr val="8A8F98"/>
                </a:solidFill>
                <a:latin typeface="Pretendard Black"/>
                <a:ea typeface="Pretendard Black"/>
                <a:cs typeface="Pretendard Black"/>
              </a:rPr>
              <a:t>   →   </a:t>
            </a:r>
            <a:r>
              <a:rPr sz="14000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상장사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1206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직원 3명 사무실부터 상장사까지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65760" y="6144768"/>
            <a:ext cx="11460175" cy="0"/>
          </a:xfrm>
          <a:prstGeom prst="line">
            <a:avLst/>
          </a:prstGeom>
          <a:ln w="6350">
            <a:solidFill>
              <a:srgbClr val="232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365760" y="637336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9525"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spc="40">
                <a:solidFill>
                  <a:srgbClr val="8A8F98"/>
                </a:solidFill>
                <a:latin typeface="SF Mono"/>
                <a:ea typeface="SF Mono"/>
                <a:cs typeface="SF Mono"/>
              </a:rPr>
              <a:t>06 / 14</a:t>
            </a:r>
          </a:p>
        </p:txBody>
      </p:sp>
      <p:pic>
        <p:nvPicPr>
          <p:cNvPr id="5" name="Picture 4" descr="ssod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188" y="6236208"/>
            <a:ext cx="872747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960120"/>
            <a:ext cx="12191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spc="242">
                <a:solidFill>
                  <a:srgbClr val="62666D"/>
                </a:solidFill>
                <a:latin typeface="SF Mono"/>
                <a:ea typeface="SF Mono"/>
                <a:cs typeface="SF Mono"/>
              </a:rPr>
              <a:t>TRUSTED BY</a:t>
            </a:r>
          </a:p>
        </p:txBody>
      </p:sp>
      <p:pic>
        <p:nvPicPr>
          <p:cNvPr id="7" name="Picture 6" descr="standard-energ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736" y="2105176"/>
            <a:ext cx="2163410" cy="98757"/>
          </a:xfrm>
          <a:prstGeom prst="rect">
            <a:avLst/>
          </a:prstGeom>
        </p:spPr>
      </p:pic>
      <p:pic>
        <p:nvPicPr>
          <p:cNvPr id="8" name="Picture 7" descr="photois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7340" y="1936853"/>
            <a:ext cx="2163410" cy="435403"/>
          </a:xfrm>
          <a:prstGeom prst="rect">
            <a:avLst/>
          </a:prstGeom>
        </p:spPr>
      </p:pic>
      <p:pic>
        <p:nvPicPr>
          <p:cNvPr id="9" name="Picture 8" descr="anjeo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944" y="1849580"/>
            <a:ext cx="2163410" cy="609948"/>
          </a:xfrm>
          <a:prstGeom prst="rect">
            <a:avLst/>
          </a:prstGeom>
        </p:spPr>
      </p:pic>
      <p:pic>
        <p:nvPicPr>
          <p:cNvPr id="10" name="Picture 9" descr="모멘텀H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74547" y="1884880"/>
            <a:ext cx="2163410" cy="539348"/>
          </a:xfrm>
          <a:prstGeom prst="rect">
            <a:avLst/>
          </a:prstGeom>
        </p:spPr>
      </p:pic>
      <p:pic>
        <p:nvPicPr>
          <p:cNvPr id="11" name="Picture 10" descr="sonicslee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3736" y="2978371"/>
            <a:ext cx="2163410" cy="569787"/>
          </a:xfrm>
          <a:prstGeom prst="rect">
            <a:avLst/>
          </a:prstGeom>
        </p:spPr>
      </p:pic>
      <p:pic>
        <p:nvPicPr>
          <p:cNvPr id="12" name="Picture 11" descr="rom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27340" y="3033267"/>
            <a:ext cx="2163410" cy="459994"/>
          </a:xfrm>
          <a:prstGeom prst="rect">
            <a:avLst/>
          </a:prstGeom>
        </p:spPr>
      </p:pic>
      <p:pic>
        <p:nvPicPr>
          <p:cNvPr id="13" name="Picture 12" descr="ssalssalss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43496" y="2902934"/>
            <a:ext cx="878306" cy="720661"/>
          </a:xfrm>
          <a:prstGeom prst="rect">
            <a:avLst/>
          </a:prstGeom>
        </p:spPr>
      </p:pic>
      <p:pic>
        <p:nvPicPr>
          <p:cNvPr id="14" name="Picture 13" descr="지산손해사정법인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74547" y="3063217"/>
            <a:ext cx="2163410" cy="400095"/>
          </a:xfrm>
          <a:prstGeom prst="rect">
            <a:avLst/>
          </a:prstGeom>
        </p:spPr>
      </p:pic>
      <p:pic>
        <p:nvPicPr>
          <p:cNvPr id="15" name="Picture 14" descr="deeplogi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3736" y="4216752"/>
            <a:ext cx="2163410" cy="310444"/>
          </a:xfrm>
          <a:prstGeom prst="rect">
            <a:avLst/>
          </a:prstGeom>
        </p:spPr>
      </p:pic>
      <p:pic>
        <p:nvPicPr>
          <p:cNvPr id="16" name="Picture 15" descr="gamdong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627340" y="4035911"/>
            <a:ext cx="2163410" cy="672127"/>
          </a:xfrm>
          <a:prstGeom prst="rect">
            <a:avLst/>
          </a:prstGeom>
        </p:spPr>
      </p:pic>
      <p:pic>
        <p:nvPicPr>
          <p:cNvPr id="17" name="Picture 16" descr="ddoksori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91739" y="4011644"/>
            <a:ext cx="1981819" cy="720661"/>
          </a:xfrm>
          <a:prstGeom prst="rect">
            <a:avLst/>
          </a:prstGeom>
        </p:spPr>
      </p:pic>
      <p:pic>
        <p:nvPicPr>
          <p:cNvPr id="18" name="Picture 17" descr="쿠메푸드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68939" y="4011644"/>
            <a:ext cx="774628" cy="720661"/>
          </a:xfrm>
          <a:prstGeom prst="rect">
            <a:avLst/>
          </a:prstGeom>
        </p:spPr>
      </p:pic>
      <p:pic>
        <p:nvPicPr>
          <p:cNvPr id="19" name="Picture 18" descr="cupora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99474" y="5120354"/>
            <a:ext cx="1671934" cy="720661"/>
          </a:xfrm>
          <a:prstGeom prst="rect">
            <a:avLst/>
          </a:prstGeom>
        </p:spPr>
      </p:pic>
      <p:pic>
        <p:nvPicPr>
          <p:cNvPr id="20" name="Picture 19" descr="스튜디오에디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15635" y="5120354"/>
            <a:ext cx="986819" cy="720661"/>
          </a:xfrm>
          <a:prstGeom prst="rect">
            <a:avLst/>
          </a:prstGeom>
        </p:spPr>
      </p:pic>
      <p:pic>
        <p:nvPicPr>
          <p:cNvPr id="21" name="Picture 20" descr="핏틀리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00944" y="5303105"/>
            <a:ext cx="2163410" cy="355159"/>
          </a:xfrm>
          <a:prstGeom prst="rect">
            <a:avLst/>
          </a:prstGeom>
        </p:spPr>
      </p:pic>
      <p:pic>
        <p:nvPicPr>
          <p:cNvPr id="22" name="Picture 21" descr="뉴레드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598612" y="5120354"/>
            <a:ext cx="1315281" cy="72066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65760" y="6144768"/>
            <a:ext cx="11460175" cy="0"/>
          </a:xfrm>
          <a:prstGeom prst="line">
            <a:avLst/>
          </a:prstGeom>
          <a:ln w="6350">
            <a:solidFill>
              <a:srgbClr val="232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365760" y="637336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9525"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spc="40">
                <a:solidFill>
                  <a:srgbClr val="8A8F98"/>
                </a:solidFill>
                <a:latin typeface="SF Mono"/>
                <a:ea typeface="SF Mono"/>
                <a:cs typeface="SF Mono"/>
              </a:rPr>
              <a:t>07 / 14</a:t>
            </a:r>
          </a:p>
        </p:txBody>
      </p:sp>
      <p:pic>
        <p:nvPicPr>
          <p:cNvPr id="5" name="Picture 4" descr="ssod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188" y="6236208"/>
            <a:ext cx="872747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2011680"/>
            <a:ext cx="12191695" cy="2560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0" spc="-700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DX · 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Digital Transformation · AI Transformation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65760" y="6144768"/>
            <a:ext cx="11460175" cy="0"/>
          </a:xfrm>
          <a:prstGeom prst="line">
            <a:avLst/>
          </a:prstGeom>
          <a:ln w="6350">
            <a:solidFill>
              <a:srgbClr val="232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365760" y="637336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9525"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spc="40">
                <a:solidFill>
                  <a:srgbClr val="8A8F98"/>
                </a:solidFill>
                <a:latin typeface="SF Mono"/>
                <a:ea typeface="SF Mono"/>
                <a:cs typeface="SF Mono"/>
              </a:rPr>
              <a:t>08 / 14</a:t>
            </a:r>
          </a:p>
        </p:txBody>
      </p:sp>
      <p:pic>
        <p:nvPicPr>
          <p:cNvPr id="5" name="Picture 4" descr="ssod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188" y="6236208"/>
            <a:ext cx="872747" cy="566928"/>
          </a:xfrm>
          <a:prstGeom prst="rect">
            <a:avLst/>
          </a:prstGeom>
        </p:spPr>
      </p:pic>
      <p:pic>
        <p:nvPicPr>
          <p:cNvPr id="6" name="Picture 5" descr="s10_pyra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868680"/>
            <a:ext cx="45720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432560"/>
            <a:ext cx="576072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spc="242">
                <a:solidFill>
                  <a:srgbClr val="62666D"/>
                </a:solidFill>
                <a:latin typeface="SF Mono"/>
                <a:ea typeface="SF Mono"/>
                <a:cs typeface="SF Mono"/>
              </a:rPr>
              <a:t>LAYER 03</a:t>
            </a:r>
          </a:p>
          <a:p>
            <a:pPr algn="l">
              <a:spcBef>
                <a:spcPts val="600"/>
              </a:spcBef>
            </a:pPr>
            <a:r>
              <a:rPr sz="4800" spc="-168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SoI</a:t>
            </a:r>
            <a:r>
              <a:rPr sz="24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   지능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651760"/>
            <a:ext cx="576072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spc="242">
                <a:solidFill>
                  <a:srgbClr val="62666D"/>
                </a:solidFill>
                <a:latin typeface="SF Mono"/>
                <a:ea typeface="SF Mono"/>
                <a:cs typeface="SF Mono"/>
              </a:rPr>
              <a:t>LAYER 02</a:t>
            </a:r>
          </a:p>
          <a:p>
            <a:pPr algn="l">
              <a:spcBef>
                <a:spcPts val="600"/>
              </a:spcBef>
            </a:pPr>
            <a:r>
              <a:rPr sz="4800" spc="-168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SoE</a:t>
            </a:r>
            <a:r>
              <a:rPr sz="24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   참여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3870960"/>
            <a:ext cx="576072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spc="242">
                <a:solidFill>
                  <a:srgbClr val="62666D"/>
                </a:solidFill>
                <a:latin typeface="SF Mono"/>
                <a:ea typeface="SF Mono"/>
                <a:cs typeface="SF Mono"/>
              </a:rPr>
              <a:t>LAYER 01</a:t>
            </a:r>
          </a:p>
          <a:p>
            <a:pPr algn="l">
              <a:spcBef>
                <a:spcPts val="600"/>
              </a:spcBef>
            </a:pPr>
            <a:r>
              <a:rPr sz="4800" spc="-168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SoR</a:t>
            </a:r>
            <a:r>
              <a:rPr sz="24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   기록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65760" y="6144768"/>
            <a:ext cx="11460175" cy="0"/>
          </a:xfrm>
          <a:prstGeom prst="line">
            <a:avLst/>
          </a:prstGeom>
          <a:ln w="6350">
            <a:solidFill>
              <a:srgbClr val="232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365760" y="637336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9525"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spc="40">
                <a:solidFill>
                  <a:srgbClr val="8A8F98"/>
                </a:solidFill>
                <a:latin typeface="SF Mono"/>
                <a:ea typeface="SF Mono"/>
                <a:cs typeface="SF Mono"/>
              </a:rPr>
              <a:t>09 / 14</a:t>
            </a:r>
          </a:p>
        </p:txBody>
      </p:sp>
      <p:pic>
        <p:nvPicPr>
          <p:cNvPr id="5" name="Picture 4" descr="ssod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188" y="6236208"/>
            <a:ext cx="872747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1463040"/>
            <a:ext cx="12191695" cy="23774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0" spc="-700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06908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70916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F7F8F8"/>
                </a:solidFill>
                <a:latin typeface="Pretendard Light"/>
                <a:ea typeface="Pretendard Light"/>
                <a:cs typeface="Pretendard Light"/>
              </a:rPr>
              <a:t>회사의 거래·사실이 권위 있게 적힌 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3492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ERP · CRM · 매출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65760" y="6144768"/>
            <a:ext cx="11460175" cy="0"/>
          </a:xfrm>
          <a:prstGeom prst="line">
            <a:avLst/>
          </a:prstGeom>
          <a:ln w="6350">
            <a:solidFill>
              <a:srgbClr val="232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365760" y="637336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9525"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spc="40">
                <a:solidFill>
                  <a:srgbClr val="8A8F98"/>
                </a:solidFill>
                <a:latin typeface="SF Mono"/>
                <a:ea typeface="SF Mono"/>
                <a:cs typeface="SF Mono"/>
              </a:rPr>
              <a:t>10 / 14</a:t>
            </a:r>
          </a:p>
        </p:txBody>
      </p:sp>
      <p:pic>
        <p:nvPicPr>
          <p:cNvPr id="5" name="Picture 4" descr="ssod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188" y="6236208"/>
            <a:ext cx="872747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1463040"/>
            <a:ext cx="12191695" cy="23774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0" spc="-700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SoE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06908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참여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70916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F7F8F8"/>
                </a:solidFill>
                <a:latin typeface="Pretendard Light"/>
                <a:ea typeface="Pretendard Light"/>
                <a:cs typeface="Pretendard Light"/>
              </a:rPr>
              <a:t>사람의 상호작용·협업이 일어나는 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3492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카톡 · 노션 · 메일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65760" y="6144768"/>
            <a:ext cx="11460175" cy="0"/>
          </a:xfrm>
          <a:prstGeom prst="line">
            <a:avLst/>
          </a:prstGeom>
          <a:ln w="6350">
            <a:solidFill>
              <a:srgbClr val="232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365760" y="637336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9525"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spc="40">
                <a:solidFill>
                  <a:srgbClr val="8A8F98"/>
                </a:solidFill>
                <a:latin typeface="SF Mono"/>
                <a:ea typeface="SF Mono"/>
                <a:cs typeface="SF Mono"/>
              </a:rPr>
              <a:t>11 / 14</a:t>
            </a:r>
          </a:p>
        </p:txBody>
      </p:sp>
      <p:pic>
        <p:nvPicPr>
          <p:cNvPr id="5" name="Picture 4" descr="ssod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188" y="6236208"/>
            <a:ext cx="872747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1463040"/>
            <a:ext cx="12191695" cy="23774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0" spc="-700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SoI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06908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지능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70916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F7F8F8"/>
                </a:solidFill>
                <a:latin typeface="Pretendard Light"/>
                <a:ea typeface="Pretendard Light"/>
                <a:cs typeface="Pretendard Light"/>
              </a:rPr>
              <a:t>여러 데이터를 합쳐 데이터를 만드는 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3492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시니어의 노하우 · 사장님의 영업 비결 등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65760" y="6144768"/>
            <a:ext cx="11460175" cy="0"/>
          </a:xfrm>
          <a:prstGeom prst="line">
            <a:avLst/>
          </a:prstGeom>
          <a:ln w="6350">
            <a:solidFill>
              <a:srgbClr val="232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365760" y="637336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9525"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spc="40">
                <a:solidFill>
                  <a:srgbClr val="8A8F98"/>
                </a:solidFill>
                <a:latin typeface="SF Mono"/>
                <a:ea typeface="SF Mono"/>
                <a:cs typeface="SF Mono"/>
              </a:rPr>
              <a:t>12 / 14</a:t>
            </a:r>
          </a:p>
        </p:txBody>
      </p:sp>
      <p:pic>
        <p:nvPicPr>
          <p:cNvPr id="5" name="Picture 4" descr="ssod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188" y="6236208"/>
            <a:ext cx="872747" cy="566928"/>
          </a:xfrm>
          <a:prstGeom prst="rect">
            <a:avLst/>
          </a:prstGeom>
        </p:spPr>
      </p:pic>
      <p:pic>
        <p:nvPicPr>
          <p:cNvPr id="6" name="Picture 5" descr="s10_pyra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71600"/>
            <a:ext cx="36576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0" y="1828800"/>
            <a:ext cx="697961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그 위에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606040"/>
            <a:ext cx="6979615" cy="3017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2000" spc="-770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+ 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11887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600" spc="-336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우리 회사는?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383280"/>
            <a:ext cx="12191695" cy="2743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spcAft>
                <a:spcPts val="1600"/>
              </a:spcAft>
            </a:pPr>
            <a:r>
              <a:rPr sz="36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☐  SoR — 기록</a:t>
            </a:r>
          </a:p>
          <a:p>
            <a:pPr algn="ctr">
              <a:spcAft>
                <a:spcPts val="1600"/>
              </a:spcAft>
            </a:pPr>
            <a:r>
              <a:rPr sz="36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☐  SoE — 참여</a:t>
            </a:r>
          </a:p>
          <a:p>
            <a:pPr algn="ctr">
              <a:spcAft>
                <a:spcPts val="1600"/>
              </a:spcAft>
            </a:pPr>
            <a:r>
              <a:rPr sz="36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☐  SoI — 지능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sod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0488" y="2514600"/>
            <a:ext cx="1970719" cy="1280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46634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F7F8F8"/>
                </a:solidFill>
                <a:latin typeface="Pretendard Light"/>
                <a:ea typeface="Pretendard Light"/>
                <a:cs typeface="Pretendard Light"/>
              </a:rPr>
              <a:t>김지명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