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1945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AI 시대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88920"/>
            <a:ext cx="12191695" cy="1463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2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준비해야하는 일의 구조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168" y="4846320"/>
            <a:ext cx="985359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02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오늘 가져가실 2가지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03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 spc="-84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7년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04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0" spc="-455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국내 유일</a:t>
            </a:r>
          </a:p>
        </p:txBody>
      </p:sp>
      <p:pic>
        <p:nvPicPr>
          <p:cNvPr id="7" name="Picture 6" descr="notion-ambassador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43" y="4160520"/>
            <a:ext cx="3271024" cy="1005840"/>
          </a:xfrm>
          <a:prstGeom prst="rect">
            <a:avLst/>
          </a:prstGeom>
        </p:spPr>
      </p:pic>
      <p:pic>
        <p:nvPicPr>
          <p:cNvPr id="8" name="Picture 7" descr="n8n-amber-ss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447" y="4160520"/>
            <a:ext cx="3575304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이중 앰버서더는 국내 SSOD뿐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05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3</a:t>
            </a:r>
            <a:r>
              <a:rPr sz="12000">
                <a:solidFill>
                  <a:srgbClr val="8A8F98"/>
                </a:solidFill>
                <a:latin typeface="Pretendard Black"/>
                <a:ea typeface="Pretendard Black"/>
                <a:cs typeface="Pretendard Black"/>
              </a:rPr>
              <a:t>   →   </a:t>
            </a:r>
            <a:r>
              <a:rPr sz="140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상장사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06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DX · 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07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회사의 거래·사실이 권위 있게 적힌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ERP · CRM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08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참여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사람의 상호작용·협업이 일어나는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카톡 · 노션 · 메일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09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463040"/>
            <a:ext cx="121916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 spc="-7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7091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여러 기록을 합쳐 AI가 결정을 만드는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BI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10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352647" y="1234440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SoI</a:t>
            </a:r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 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2647" y="2697480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SoE</a:t>
            </a:r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 참여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2647" y="23317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5E6AD2"/>
                </a:solidFill>
                <a:latin typeface="Pretendard Black"/>
                <a:ea typeface="Pretendard Black"/>
                <a:cs typeface="Pretendard Black"/>
              </a:rPr>
              <a:t>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2647" y="4160520"/>
            <a:ext cx="5486400" cy="1051560"/>
          </a:xfrm>
          <a:prstGeom prst="roundRect">
            <a:avLst>
              <a:gd name="adj" fmla="val 10000"/>
            </a:avLst>
          </a:prstGeom>
          <a:solidFill>
            <a:srgbClr val="0F1011"/>
          </a:solidFill>
          <a:ln w="12700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SoR</a:t>
            </a:r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    기록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52647" y="3794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5E6AD2"/>
                </a:solidFill>
                <a:latin typeface="Pretendard Black"/>
                <a:ea typeface="Pretendard Black"/>
                <a:cs typeface="Pretendard Black"/>
              </a:rPr>
              <a:t>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365760" y="6144768"/>
            <a:ext cx="11460175" cy="0"/>
          </a:xfrm>
          <a:prstGeom prst="line">
            <a:avLst/>
          </a:prstGeom>
          <a:ln w="6350">
            <a:solidFill>
              <a:srgbClr val="2325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365760" y="637336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0F1011"/>
          </a:solidFill>
          <a:ln w="9525">
            <a:solidFill>
              <a:srgbClr val="2325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00" spc="40">
                <a:solidFill>
                  <a:srgbClr val="8A8F98"/>
                </a:solidFill>
                <a:latin typeface="SF Mono"/>
                <a:ea typeface="SF Mono"/>
                <a:cs typeface="SF Mono"/>
              </a:rPr>
              <a:t>11 / 13</a:t>
            </a:r>
          </a:p>
        </p:txBody>
      </p:sp>
      <p:pic>
        <p:nvPicPr>
          <p:cNvPr id="5" name="Picture 4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188" y="6236208"/>
            <a:ext cx="872747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그 위에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743200"/>
            <a:ext cx="12191695" cy="2743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 spc="-840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 spc="-336">
                <a:solidFill>
                  <a:srgbClr val="F7F8F8"/>
                </a:solidFill>
                <a:latin typeface="Pretendard Black"/>
                <a:ea typeface="Pretendard Black"/>
                <a:cs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SoR — 기록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SoE — 참여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8A8F98"/>
                </a:solidFill>
                <a:latin typeface="Pretendard Light"/>
                <a:ea typeface="Pretendard Light"/>
                <a:cs typeface="Pretendard Light"/>
              </a:rPr>
              <a:t>☐  SoI — 지능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01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sod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0488" y="2514600"/>
            <a:ext cx="1970719" cy="1280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46634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7F8F8"/>
                </a:solidFill>
                <a:latin typeface="Pretendard Light"/>
                <a:ea typeface="Pretendard Light"/>
                <a:cs typeface="Pretendard Light"/>
              </a:rPr>
              <a:t>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