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01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651760"/>
            <a:ext cx="12191695" cy="137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400" spc="-294">
                <a:solidFill>
                  <a:srgbClr val="F7F8F8"/>
                </a:solidFill>
                <a:latin typeface="Pretendard Black"/>
                <a:ea typeface="Pretendard Black"/>
                <a:cs typeface="Pretendard Black"/>
              </a:rPr>
              <a:t>AI 시대 일하는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206240"/>
            <a:ext cx="121916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F7F8F8"/>
                </a:solidFill>
                <a:latin typeface="Pretendard Light"/>
                <a:ea typeface="Pretendard Light"/>
                <a:cs typeface="Pretendard Light"/>
              </a:rPr>
              <a:t>SSOD · 김지명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01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spc="33">
                <a:solidFill>
                  <a:srgbClr val="62666D"/>
                </a:solidFill>
                <a:latin typeface="SF Mono"/>
                <a:ea typeface="SF Mono"/>
                <a:cs typeface="SF Mono"/>
              </a:rPr>
              <a:t>02/13</a:t>
            </a:r>
          </a:p>
        </p:txBody>
      </p:sp>
      <p:pic>
        <p:nvPicPr>
          <p:cNvPr id="4" name="Picture 3" descr="ssod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2944" y="6181344"/>
            <a:ext cx="647271" cy="3840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1463040"/>
            <a:ext cx="12191695" cy="8229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600">
                <a:solidFill>
                  <a:srgbClr val="F7F8F8"/>
                </a:solidFill>
                <a:latin typeface="Pretendard Black"/>
                <a:ea typeface="Pretendard Black"/>
                <a:cs typeface="Pretendard Black"/>
              </a:rPr>
              <a:t>오늘 가져가실 2가지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017520"/>
            <a:ext cx="12191695" cy="2743200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pPr algn="ctr">
              <a:spcAft>
                <a:spcPts val="2800"/>
              </a:spcAft>
            </a:pPr>
            <a:r>
              <a:rPr sz="4000">
                <a:solidFill>
                  <a:srgbClr val="F7F8F8"/>
                </a:solidFill>
                <a:latin typeface="Pretendard Light"/>
                <a:ea typeface="Pretendard Light"/>
                <a:cs typeface="Pretendard Light"/>
              </a:rPr>
              <a:t>①  SSOD는 무엇을 하는가?</a:t>
            </a:r>
          </a:p>
          <a:p>
            <a:pPr algn="ctr">
              <a:spcAft>
                <a:spcPts val="2800"/>
              </a:spcAft>
            </a:pPr>
            <a:r>
              <a:rPr sz="4000">
                <a:solidFill>
                  <a:srgbClr val="F7F8F8"/>
                </a:solidFill>
                <a:latin typeface="Pretendard Light"/>
                <a:ea typeface="Pretendard Light"/>
                <a:cs typeface="Pretendard Light"/>
              </a:rPr>
              <a:t>②  우리 회사는?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01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spc="33">
                <a:solidFill>
                  <a:srgbClr val="62666D"/>
                </a:solidFill>
                <a:latin typeface="SF Mono"/>
                <a:ea typeface="SF Mono"/>
                <a:cs typeface="SF Mono"/>
              </a:rPr>
              <a:t>03/13</a:t>
            </a:r>
          </a:p>
        </p:txBody>
      </p:sp>
      <p:pic>
        <p:nvPicPr>
          <p:cNvPr id="4" name="Picture 3" descr="ssod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2944" y="6181344"/>
            <a:ext cx="647271" cy="3840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1645920"/>
            <a:ext cx="12191695" cy="3200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000" spc="-840">
                <a:solidFill>
                  <a:srgbClr val="F7F8F8"/>
                </a:solidFill>
                <a:latin typeface="Pretendard Black"/>
                <a:ea typeface="Pretendard Black"/>
                <a:cs typeface="Pretendard Black"/>
              </a:rPr>
              <a:t>7년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937760"/>
            <a:ext cx="121916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8A8F98"/>
                </a:solidFill>
                <a:latin typeface="Pretendard Light"/>
                <a:ea typeface="Pretendard Light"/>
                <a:cs typeface="Pretendard Light"/>
              </a:rPr>
              <a:t>B2B 컨설팅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01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spc="33">
                <a:solidFill>
                  <a:srgbClr val="62666D"/>
                </a:solidFill>
                <a:latin typeface="SF Mono"/>
                <a:ea typeface="SF Mono"/>
                <a:cs typeface="SF Mono"/>
              </a:rPr>
              <a:t>04/13</a:t>
            </a:r>
          </a:p>
        </p:txBody>
      </p:sp>
      <p:pic>
        <p:nvPicPr>
          <p:cNvPr id="4" name="Picture 3" descr="ssod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2944" y="6181344"/>
            <a:ext cx="647271" cy="3840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1280160"/>
            <a:ext cx="12191695" cy="20116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000" spc="-560">
                <a:solidFill>
                  <a:srgbClr val="F7F8F8"/>
                </a:solidFill>
                <a:latin typeface="Pretendard Black"/>
                <a:ea typeface="Pretendard Black"/>
                <a:cs typeface="Pretendard Black"/>
              </a:rPr>
              <a:t>둘 다</a:t>
            </a:r>
          </a:p>
        </p:txBody>
      </p:sp>
      <p:pic>
        <p:nvPicPr>
          <p:cNvPr id="6" name="Picture 5" descr="notion-ambassador-ba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6943" y="4160520"/>
            <a:ext cx="3271024" cy="1005840"/>
          </a:xfrm>
          <a:prstGeom prst="rect">
            <a:avLst/>
          </a:prstGeom>
        </p:spPr>
      </p:pic>
      <p:pic>
        <p:nvPicPr>
          <p:cNvPr id="7" name="Picture 6" descr="n8n-amber-ssod-bla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9447" y="4160520"/>
            <a:ext cx="3575304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0" y="5577840"/>
            <a:ext cx="121916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8A8F98"/>
                </a:solidFill>
                <a:latin typeface="Pretendard Light"/>
                <a:ea typeface="Pretendard Light"/>
                <a:cs typeface="Pretendard Light"/>
              </a:rPr>
              <a:t>글로벌 공식 앰버서더 — 한국에 쏘드뿐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01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spc="33">
                <a:solidFill>
                  <a:srgbClr val="62666D"/>
                </a:solidFill>
                <a:latin typeface="SF Mono"/>
                <a:ea typeface="SF Mono"/>
                <a:cs typeface="SF Mono"/>
              </a:rPr>
              <a:t>05/13</a:t>
            </a:r>
          </a:p>
        </p:txBody>
      </p:sp>
      <p:pic>
        <p:nvPicPr>
          <p:cNvPr id="4" name="Picture 3" descr="ssod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2944" y="6181344"/>
            <a:ext cx="647271" cy="3840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2560320"/>
            <a:ext cx="12191695" cy="1828800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ctr"/>
            <a:r>
              <a:rPr sz="16000">
                <a:solidFill>
                  <a:srgbClr val="F7F8F8"/>
                </a:solidFill>
                <a:latin typeface="Pretendard Black"/>
                <a:ea typeface="Pretendard Black"/>
                <a:cs typeface="Pretendard Black"/>
              </a:rPr>
              <a:t>3</a:t>
            </a:r>
            <a:r>
              <a:rPr sz="12000">
                <a:solidFill>
                  <a:srgbClr val="8A8F98"/>
                </a:solidFill>
                <a:latin typeface="Pretendard Black"/>
                <a:ea typeface="Pretendard Black"/>
                <a:cs typeface="Pretendard Black"/>
              </a:rPr>
              <a:t>   →   </a:t>
            </a:r>
            <a:r>
              <a:rPr sz="14000">
                <a:solidFill>
                  <a:srgbClr val="F7F8F8"/>
                </a:solidFill>
                <a:latin typeface="Pretendard Black"/>
                <a:ea typeface="Pretendard Black"/>
                <a:cs typeface="Pretendard Black"/>
              </a:rPr>
              <a:t>상장사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120640"/>
            <a:ext cx="121916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8A8F98"/>
                </a:solidFill>
                <a:latin typeface="Pretendard Light"/>
                <a:ea typeface="Pretendard Light"/>
                <a:cs typeface="Pretendard Light"/>
              </a:rPr>
              <a:t>직원 3명 사무실부터 상장사까지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01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spc="33">
                <a:solidFill>
                  <a:srgbClr val="62666D"/>
                </a:solidFill>
                <a:latin typeface="SF Mono"/>
                <a:ea typeface="SF Mono"/>
                <a:cs typeface="SF Mono"/>
              </a:rPr>
              <a:t>06/13</a:t>
            </a:r>
          </a:p>
        </p:txBody>
      </p:sp>
      <p:pic>
        <p:nvPicPr>
          <p:cNvPr id="4" name="Picture 3" descr="ssod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2944" y="6181344"/>
            <a:ext cx="647271" cy="3840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2011680"/>
            <a:ext cx="12191695" cy="2560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0000" spc="-700">
                <a:solidFill>
                  <a:srgbClr val="F7F8F8"/>
                </a:solidFill>
                <a:latin typeface="Pretendard Black"/>
                <a:ea typeface="Pretendard Black"/>
                <a:cs typeface="Pretendard Black"/>
              </a:rPr>
              <a:t>DX · AX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937760"/>
            <a:ext cx="121916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8A8F98"/>
                </a:solidFill>
                <a:latin typeface="Pretendard Light"/>
                <a:ea typeface="Pretendard Light"/>
                <a:cs typeface="Pretendard Light"/>
              </a:rPr>
              <a:t>Digital Transformation · AI Transformation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01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spc="33">
                <a:solidFill>
                  <a:srgbClr val="62666D"/>
                </a:solidFill>
                <a:latin typeface="SF Mono"/>
                <a:ea typeface="SF Mono"/>
                <a:cs typeface="SF Mono"/>
              </a:rPr>
              <a:t>07/13</a:t>
            </a:r>
          </a:p>
        </p:txBody>
      </p:sp>
      <p:pic>
        <p:nvPicPr>
          <p:cNvPr id="4" name="Picture 3" descr="ssod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2944" y="6181344"/>
            <a:ext cx="647271" cy="3840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1828800"/>
            <a:ext cx="12191695" cy="2560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0000" spc="-700">
                <a:solidFill>
                  <a:srgbClr val="F7F8F8"/>
                </a:solidFill>
                <a:latin typeface="Pretendard Black"/>
                <a:ea typeface="Pretendard Black"/>
                <a:cs typeface="Pretendard Black"/>
              </a:rPr>
              <a:t>SoR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206240"/>
            <a:ext cx="121916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>
                <a:solidFill>
                  <a:srgbClr val="8A8F98"/>
                </a:solidFill>
                <a:latin typeface="Pretendard Light"/>
                <a:ea typeface="Pretendard Light"/>
                <a:cs typeface="Pretendard Light"/>
              </a:rPr>
              <a:t>데이터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212080"/>
            <a:ext cx="121916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8A8F98"/>
                </a:solidFill>
                <a:latin typeface="Pretendard Light"/>
                <a:ea typeface="Pretendard Light"/>
                <a:cs typeface="Pretendard Light"/>
              </a:rPr>
              <a:t>ERP · 고객 명단 · 매출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01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spc="33">
                <a:solidFill>
                  <a:srgbClr val="62666D"/>
                </a:solidFill>
                <a:latin typeface="SF Mono"/>
                <a:ea typeface="SF Mono"/>
                <a:cs typeface="SF Mono"/>
              </a:rPr>
              <a:t>08/13</a:t>
            </a:r>
          </a:p>
        </p:txBody>
      </p:sp>
      <p:pic>
        <p:nvPicPr>
          <p:cNvPr id="4" name="Picture 3" descr="ssod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2944" y="6181344"/>
            <a:ext cx="647271" cy="3840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1828800"/>
            <a:ext cx="12191695" cy="2560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0000" spc="-700">
                <a:solidFill>
                  <a:srgbClr val="F7F8F8"/>
                </a:solidFill>
                <a:latin typeface="Pretendard Black"/>
                <a:ea typeface="Pretendard Black"/>
                <a:cs typeface="Pretendard Black"/>
              </a:rPr>
              <a:t>SoE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206240"/>
            <a:ext cx="121916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>
                <a:solidFill>
                  <a:srgbClr val="8A8F98"/>
                </a:solidFill>
                <a:latin typeface="Pretendard Light"/>
                <a:ea typeface="Pretendard Light"/>
                <a:cs typeface="Pretendard Light"/>
              </a:rPr>
              <a:t>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212080"/>
            <a:ext cx="121916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8A8F98"/>
                </a:solidFill>
                <a:latin typeface="Pretendard Light"/>
                <a:ea typeface="Pretendard Light"/>
                <a:cs typeface="Pretendard Light"/>
              </a:rPr>
              <a:t>카톡 · 노션 · 결재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01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spc="33">
                <a:solidFill>
                  <a:srgbClr val="62666D"/>
                </a:solidFill>
                <a:latin typeface="SF Mono"/>
                <a:ea typeface="SF Mono"/>
                <a:cs typeface="SF Mono"/>
              </a:rPr>
              <a:t>09/13</a:t>
            </a:r>
          </a:p>
        </p:txBody>
      </p:sp>
      <p:pic>
        <p:nvPicPr>
          <p:cNvPr id="4" name="Picture 3" descr="ssod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2944" y="6181344"/>
            <a:ext cx="647271" cy="3840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1828800"/>
            <a:ext cx="12191695" cy="2560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0000" spc="-700">
                <a:solidFill>
                  <a:srgbClr val="F7F8F8"/>
                </a:solidFill>
                <a:latin typeface="Pretendard Black"/>
                <a:ea typeface="Pretendard Black"/>
                <a:cs typeface="Pretendard Black"/>
              </a:rPr>
              <a:t>SoI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206240"/>
            <a:ext cx="121916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>
                <a:solidFill>
                  <a:srgbClr val="8A8F98"/>
                </a:solidFill>
                <a:latin typeface="Pretendard Light"/>
                <a:ea typeface="Pretendard Light"/>
                <a:cs typeface="Pretendard Light"/>
              </a:rPr>
              <a:t>판단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212080"/>
            <a:ext cx="121916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8A8F98"/>
                </a:solidFill>
                <a:latin typeface="Pretendard Light"/>
                <a:ea typeface="Pretendard Light"/>
                <a:cs typeface="Pretendard Light"/>
              </a:rPr>
              <a:t>사장님 · 대시보드 · AI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01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spc="33">
                <a:solidFill>
                  <a:srgbClr val="62666D"/>
                </a:solidFill>
                <a:latin typeface="SF Mono"/>
                <a:ea typeface="SF Mono"/>
                <a:cs typeface="SF Mono"/>
              </a:rPr>
              <a:t>10/13</a:t>
            </a:r>
          </a:p>
        </p:txBody>
      </p:sp>
      <p:pic>
        <p:nvPicPr>
          <p:cNvPr id="4" name="Picture 3" descr="ssod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2944" y="6181344"/>
            <a:ext cx="647271" cy="38404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352647" y="1234440"/>
            <a:ext cx="5486400" cy="1051560"/>
          </a:xfrm>
          <a:prstGeom prst="roundRect">
            <a:avLst>
              <a:gd name="adj" fmla="val 10000"/>
            </a:avLst>
          </a:prstGeom>
          <a:solidFill>
            <a:srgbClr val="0F1011"/>
          </a:solidFill>
          <a:ln w="12700">
            <a:solidFill>
              <a:srgbClr val="2325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/>
          <a:lstStyle/>
          <a:p>
            <a:pPr algn="ctr"/>
            <a:r>
              <a:rPr sz="5400">
                <a:solidFill>
                  <a:srgbClr val="F7F8F8"/>
                </a:solidFill>
                <a:latin typeface="Pretendard Black"/>
                <a:ea typeface="Pretendard Black"/>
                <a:cs typeface="Pretendard Black"/>
              </a:rPr>
              <a:t>SoI</a:t>
            </a:r>
            <a:r>
              <a:rPr sz="2800">
                <a:solidFill>
                  <a:srgbClr val="8A8F98"/>
                </a:solidFill>
                <a:latin typeface="Pretendard Light"/>
                <a:ea typeface="Pretendard Light"/>
                <a:cs typeface="Pretendard Light"/>
              </a:rPr>
              <a:t>    판단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52647" y="2697480"/>
            <a:ext cx="5486400" cy="1051560"/>
          </a:xfrm>
          <a:prstGeom prst="roundRect">
            <a:avLst>
              <a:gd name="adj" fmla="val 10000"/>
            </a:avLst>
          </a:prstGeom>
          <a:solidFill>
            <a:srgbClr val="0F1011"/>
          </a:solidFill>
          <a:ln w="12700">
            <a:solidFill>
              <a:srgbClr val="2325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/>
          <a:lstStyle/>
          <a:p>
            <a:pPr algn="ctr"/>
            <a:r>
              <a:rPr sz="5400">
                <a:solidFill>
                  <a:srgbClr val="F7F8F8"/>
                </a:solidFill>
                <a:latin typeface="Pretendard Black"/>
                <a:ea typeface="Pretendard Black"/>
                <a:cs typeface="Pretendard Black"/>
              </a:rPr>
              <a:t>SoE</a:t>
            </a:r>
            <a:r>
              <a:rPr sz="2800">
                <a:solidFill>
                  <a:srgbClr val="8A8F98"/>
                </a:solidFill>
                <a:latin typeface="Pretendard Light"/>
                <a:ea typeface="Pretendard Light"/>
                <a:cs typeface="Pretendard Light"/>
              </a:rPr>
              <a:t>    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52647" y="23317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>
                <a:solidFill>
                  <a:srgbClr val="8A8F98"/>
                </a:solidFill>
                <a:latin typeface="Pretendard Light"/>
                <a:ea typeface="Pretendard Light"/>
                <a:cs typeface="Pretendard Light"/>
              </a:rPr>
              <a:t>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52647" y="4160520"/>
            <a:ext cx="5486400" cy="1051560"/>
          </a:xfrm>
          <a:prstGeom prst="roundRect">
            <a:avLst>
              <a:gd name="adj" fmla="val 10000"/>
            </a:avLst>
          </a:prstGeom>
          <a:solidFill>
            <a:srgbClr val="0F1011"/>
          </a:solidFill>
          <a:ln w="12700">
            <a:solidFill>
              <a:srgbClr val="2325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/>
          <a:lstStyle/>
          <a:p>
            <a:pPr algn="ctr"/>
            <a:r>
              <a:rPr sz="5400">
                <a:solidFill>
                  <a:srgbClr val="F7F8F8"/>
                </a:solidFill>
                <a:latin typeface="Pretendard Black"/>
                <a:ea typeface="Pretendard Black"/>
                <a:cs typeface="Pretendard Black"/>
              </a:rPr>
              <a:t>SoR</a:t>
            </a:r>
            <a:r>
              <a:rPr sz="2800">
                <a:solidFill>
                  <a:srgbClr val="8A8F98"/>
                </a:solidFill>
                <a:latin typeface="Pretendard Light"/>
                <a:ea typeface="Pretendard Light"/>
                <a:cs typeface="Pretendard Light"/>
              </a:rPr>
              <a:t>    데이터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52647" y="37947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>
                <a:solidFill>
                  <a:srgbClr val="8A8F98"/>
                </a:solidFill>
                <a:latin typeface="Pretendard Light"/>
                <a:ea typeface="Pretendard Light"/>
                <a:cs typeface="Pretendard Light"/>
              </a:rPr>
              <a:t>↑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01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spc="33">
                <a:solidFill>
                  <a:srgbClr val="62666D"/>
                </a:solidFill>
                <a:latin typeface="SF Mono"/>
                <a:ea typeface="SF Mono"/>
                <a:cs typeface="SF Mono"/>
              </a:rPr>
              <a:t>11/13</a:t>
            </a:r>
          </a:p>
        </p:txBody>
      </p:sp>
      <p:pic>
        <p:nvPicPr>
          <p:cNvPr id="4" name="Picture 3" descr="ssod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2944" y="6181344"/>
            <a:ext cx="647271" cy="3840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>
                <a:solidFill>
                  <a:srgbClr val="8A8F98"/>
                </a:solidFill>
                <a:latin typeface="Pretendard Light"/>
                <a:ea typeface="Pretendard Light"/>
                <a:cs typeface="Pretendard Light"/>
              </a:rPr>
              <a:t>그 위에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274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000" spc="-840">
                <a:solidFill>
                  <a:srgbClr val="F7F8F8"/>
                </a:solidFill>
                <a:latin typeface="Pretendard Black"/>
                <a:ea typeface="Pretendard Black"/>
                <a:cs typeface="Pretendard Black"/>
              </a:rPr>
              <a:t>+ AI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01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371600"/>
            <a:ext cx="12191695" cy="11887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600" spc="-336">
                <a:solidFill>
                  <a:srgbClr val="F7F8F8"/>
                </a:solidFill>
                <a:latin typeface="Pretendard Black"/>
                <a:ea typeface="Pretendard Black"/>
                <a:cs typeface="Pretendard Black"/>
              </a:rPr>
              <a:t>우리 회사는?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383280"/>
            <a:ext cx="12191695" cy="2743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spcAft>
                <a:spcPts val="1600"/>
              </a:spcAft>
            </a:pPr>
            <a:r>
              <a:rPr sz="3600">
                <a:solidFill>
                  <a:srgbClr val="8A8F98"/>
                </a:solidFill>
                <a:latin typeface="Pretendard Light"/>
                <a:ea typeface="Pretendard Light"/>
                <a:cs typeface="Pretendard Light"/>
              </a:rPr>
              <a:t>☐  SoR — 데이터</a:t>
            </a:r>
          </a:p>
          <a:p>
            <a:pPr algn="ctr">
              <a:spcAft>
                <a:spcPts val="1600"/>
              </a:spcAft>
            </a:pPr>
            <a:r>
              <a:rPr sz="3600">
                <a:solidFill>
                  <a:srgbClr val="8A8F98"/>
                </a:solidFill>
                <a:latin typeface="Pretendard Light"/>
                <a:ea typeface="Pretendard Light"/>
                <a:cs typeface="Pretendard Light"/>
              </a:rPr>
              <a:t>☐  SoE — 일</a:t>
            </a:r>
          </a:p>
          <a:p>
            <a:pPr algn="ctr">
              <a:spcAft>
                <a:spcPts val="1600"/>
              </a:spcAft>
            </a:pPr>
            <a:r>
              <a:rPr sz="3600">
                <a:solidFill>
                  <a:srgbClr val="8A8F98"/>
                </a:solidFill>
                <a:latin typeface="Pretendard Light"/>
                <a:ea typeface="Pretendard Light"/>
                <a:cs typeface="Pretendard Light"/>
              </a:rPr>
              <a:t>☐  SoI — 판단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01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sod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101" y="5806440"/>
            <a:ext cx="924674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01200" y="54864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>
                <a:solidFill>
                  <a:srgbClr val="F7F8F8"/>
                </a:solidFill>
                <a:latin typeface="Pretendard Light"/>
                <a:ea typeface="Pretendard Light"/>
                <a:cs typeface="Pretendard Light"/>
              </a:rPr>
              <a:t>김지명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