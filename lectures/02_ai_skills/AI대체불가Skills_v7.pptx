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(타이틀 슬라이드. 청중이 착석하면서 볼 수 있도록 미리 띄워놓기.)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여러분, 솔직히 하나 여쭤볼게요.
지난 한 달 안에, "이거 AI한테 시키면 되겠다" 하고 직원한테 줄 일을 안 준 적 있으신 분?
... (손 드는 사람 확인)
그러면 여러분의 고객도, 여러분한테 똑같은 생각을 하고 있을 수 있습니다.
(PAUSE)
지난 시간에 AI 시대에 결국 남는 건 신뢰라는 이야기 했습니다. 오늘은 그 다음 질문입니다.
그 신뢰를, 뭘로 채울 건가?
"저 믿으세요"만으로는 안 됩니다. 고객이 나를 믿어야 할 구체적인 이유 — 그걸 말로 할 수 있어야 합니다. 오늘 그걸 찾는 시간입니다.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 AI가 어디까지 와있는지 한번 보겠습니다.
요즘 AI 중에 Claude라는 게 있는데요, ChatGPT랑 비슷한 건데 — 올해 "Skills"라는 기능을 냈어요. 뭐냐면, AI한테 우리 회사 업무 방식을 가르치는 겁니다. 한번 가르쳐놓으면, 이메일, 제안서, PPT를 우리 회사 스타일로 알아서 만들어요.
예전에는 "AI가 글을 잘 쓴다" 수준이었는데, 지금은 "3년차 직원처럼 알아서 일한다" 수준까지 온 겁니다.
특별한 기술 없어도 됩니다. 누구나 쓸 수 있어요. 여러분 경쟁사도 이미 쓰고 있을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하버드 비즈니스 리뷰가 올해 충격적인 기사를 냈습니다. 핵심이 뭐냐면 — 기업들이 AI가 잘해서 사람을 자르는 게 아니라, 잘할 것 같아서 자르고 있다는 겁니다. 아직 완벽하지도 않은데, 가능성만 보고 줄이고 있어요.
여기까지가 현실입니다. 그런데 여기서 끝나면 오늘 교육이 아니라 공포 영화죠.
(PAUSE)
솔직히 말씀드리면, 저도 이 주제를 준비하면서 좀 무서웠습니다. AI한테 "BNI 10분 교육 대본 써줘"라고 했더니 진짜 나오거든요. 그것도 꽤 괜찮게.
그래서 생각했습니다 — 그러면 내가 여기 서 있는 이유가 뭐지?
그 답을 찾는 과정에서 오늘 이야기가 나왔습니다.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전세계 기업들이 쓰는 Notion이라는 업무 협업 도구가 있는데요, 이 회사가 재밌는 걸 발견했습니다.
Notion이 파트너 컨설턴트 프로그램을 운영하거든요. 그런데 데이터를 보니까 — 컨설턴트가 들어간 회사의 매출이 거의 2배로 뛴다는 겁니다.
AI 도구는 그 회사에도 이미 있었어요. 같은 도구를 쓰고 있었는데, 사람이 들어가서 세팅을 해주니까 결과가 완전히 달라진 거예요.
Notion은 이걸 "판단력의 경제" 시대라고 부릅니다.
AI가 나오면서 기술 차이가 거의 없어졌어요. 누구나 예쁜 제안서 만들 수 있고, 누구나 데이터 분석할 수 있어요. (숨) 그런데 — 그 AI를 어디에 쓸지, 지금 이걸 해야 하는지 말아야 하는지. 이 판단은 아직 사람만 할 수 있습니다.
그리고 Notion은 이렇게 말합니다 — "판단력은 복리로 쌓인다."
여러분이 10년, 20년 사업하면서 쌓아온 것들. AI는 그걸 하루아침에 복사할 수 없습니다.
좋습니다, 판단력이 중요하다 — 여기까진 알겠는데요. 내 판단력이 구체적으로 뭔지 모르면 써먹을 수가 없습니다. 고객한테 말할 수도 없고, 여기서 레퍼럴 요청할 때도 쓸 수가 없어요.
AI가 따라올 수 없는 판단력, 세 가지 유형으로 정리해봤습니다. 이 중에 내가 어디에 해당하는지 들으면서 생각해보세요.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(전환 슬라이드 — 세 가지 판단력 프레임워크 소개. 잠시 멈추고 청중이 읽도록 기다린다.)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세무사 사무실을 운영하시는 분이 계시다면 — 지금 AI가 장부 정리, 세금 계산은 다 합니다. 삼쩜삼 같은 앱이 5만원에 해줘요.
그런데요. 그 거래처 사장님이 "올해 좀 힘들어요"라고 했을 때, 그게 진짜 힘든 건지, 세금 좀 줄여달라는 건지, 아니면 사업 정리를 고민하는 건지 — 그 뉘앙스를 읽는 건 AI가 못 합니다.
왜냐면 AI한테는 그 사장님이랑 소주 마시면서 들은 이야기가 없으니까요.
이게 맥락입니다. 숫자 뒤에 있는 진짜 상황을 읽는 능력.
여러분 사업에서, 고객이 말 안 해도 여러분이 알아채는 것들이 있잖아요. 그게 여러분의 첫 번째 Skill입니다.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AI는 데이터 보고 가장 안전한 답을 내놓습니다. 그런데 사업에는 데이터에 없는 판단이 필요한 순간이 있어요.
제조업 하시는 분 중에 이런 경험 있으실 겁니다. (숨) 원자재 가격이 오르고 있어요. 시스템은 "발주 중단"을 추천합니다. (숨) 근데 여러분은 이렇게 판단하는 거죠. "아니, 지금 오히려 밀어야 해. 저 사장은 어려울 때 도와주면 나중에 갚는 사람이야."
틀릴 수도 있습니다. 그런데 이 판단을 내리는 건 사람만 할 수 있어요.
왜냐면 AI는 추천은 하지만 책임지지 않습니다. 새벽 2시에 문제 생겼을 때 전화 받는 건 여러분이에요.
(PAUSE)
여러분이 사업에서 베팅한 순간들, 틀릴 줄 알면서도 밀어붙인 순간들. 그게 두 번째 Skill입니다.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이게 사실 가장 어려운 겁니다.
AI는 만드는 건 미친 듯이 잘합니다. 시키면 10개든 100개든 나와요. 문제는 다 괜찮다는 겁니다. 다 괜찮은데 뭘 쓸 건지 — 이걸 고르는 게 판단입니다. 그리고 더 어려운 건, 9개를 버리는 판단입니다.
보험 설계사 하시는 분이면 아실 거예요. 고객이 "이 특약 넣어주세요" 하는데, 그걸 넣으면 3년 뒤에 그 고객이 오히려 손해 보는 경우가 있잖아요.
AI는 고객이 원하는 대로 설계서를 만들어줍니다. 하지만 "사장님, 이건 안 하시는 게 맞습니다"라고 말하는 건 AI가 못 합니다.
"안 한다"고 말할 수 있는 것. 그게 여러분이 받는 수수료의 진짜 근거입니다.
고객한테 "이건 하지 마세요"라고 말해본 적 있으시죠? 그게 세 번째 Skill입니다.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세 가지를 알면, 우리가 매주 하는 60초 소개가 완전히 달라집니다.
솔직히 말씀드리면 — 우리가 평소에 하는 60초 소개, ChatGPT한테 시키면 비슷하게 나옵니다.
"저는 인테리어 업체를 운영하고 있습니다. 주거, 상업 공간 다 합니다. 리모델링 필요하신 분 있으면 소개 부탁드립니다."
이거, AI가 5초 만에 쓰는 수준입니다. 이 소개를 듣고 소개해줄 사람이 떠오르시나요? 안 떠오르죠.
그런데 내 Skill이 뭔지 아는 분은 이렇게 말합니다.
"저는 강남에서 15년째 인테리어를 하고 있습니다. 제가 잘하는 건 예쁜 시공이 아니라, 도면 보고 3분 안에 '여기 건드리면 큰일 납니다'를 찾아내는 겁니다. 2호점 내시는 프랜차이즈 사장님 계시면 소개해주세요. 첫 미팅에서 도면 보고 리스크 3개는 바로 짚어드립니다."
이 사람은 자기 Skill을 정확히 압니다. 맥락을 읽고, 리스크를 짚어주고, "이건 하지 마세요"를 말할 수 있는 사람. 그래서 소개하고 싶은 사람의 얼굴이 떠오르는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지난 시간에 신뢰가 중요하다고 했습니다. 오늘은 그 신뢰 안에 담을 것을 찾았습니다.
내가 읽는 맥락, 내가 감수하는 리스크, 내가 버리는 것들.
이 세 가지가 AI가 대체할 수 없는 나만의 Skills입니다. 여러분이 10년, 20년 사업하면서 복리로 쌓아온 자산이에요. AI가 하루아침에 따라올 수 없습니다.
이번 주 숙제 드리겠습니다.
다음 주 60초 소개 준비할 때, 이 질문에 먼저 답해보세요.
"내 사업에서 내가 내리는 판단 중, AI가 절대 못 하는 한 가지는?"
맥락을 읽는 건지, 리스크를 감수하는 건지, 버리는 판단을 하는 건지.
그 답이 나오면, 60초 소개의 첫 문장이 됩니다. "저는 ___를 하는 사람이 아니라, ___를 판단하는 사람입니다."
다음 주에 바뀐 소개로 한번 해보시고, 반응이 어떻게 달라지는지 알려주세요.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5F0"/>
        </a:solidFill>
      </p:bgPr>
    </p:bg>
    <p:spTree>
      <p:nvGrpSpPr>
        <p:cNvPr id="1" name=""/>
        <p:cNvGrpSpPr/>
        <p:nvPr/>
      </p:nvGrpSpPr>
      <p:grpSpPr>
        <a:xfrm>
          <a:off x="0" y="0"/>
          <a:ext cx="0" cy="0"/>
          <a:chOff x="0" y="0"/>
          <a:chExt cx="0" cy="0"/>
        </a:xfrm>
      </p:grpSpPr>
      <p:sp>
        <p:nvSpPr>
          <p:cNvPr id="2" name="Text 0"/>
          <p:cNvSpPr/>
          <p:nvPr/>
        </p:nvSpPr>
        <p:spPr>
          <a:xfrm>
            <a:off x="0" y="0"/>
            <a:ext cx="609600" cy="5143500"/>
          </a:xfrm>
          <a:prstGeom prst="rect">
            <a:avLst/>
          </a:prstGeom>
          <a:solidFill>
            <a:srgbClr val="1A1A1A"/>
          </a:solidFill>
          <a:ln/>
        </p:spPr>
        <p:txBody>
          <a:bodyPr wrap="square" rtlCol="0" anchor="ctr"/>
          <a:lstStyle/>
          <a:p>
            <a:pPr indent="0" marL="0">
              <a:buNone/>
            </a:pPr>
            <a:endParaRPr lang="en-US" dirty="0"/>
          </a:p>
        </p:txBody>
      </p:sp>
      <p:sp>
        <p:nvSpPr>
          <p:cNvPr id="3" name="Text 1"/>
          <p:cNvSpPr/>
          <p:nvPr/>
        </p:nvSpPr>
        <p:spPr>
          <a:xfrm>
            <a:off x="247650" y="1489918"/>
            <a:ext cx="121158" cy="2163663"/>
          </a:xfrm>
          <a:prstGeom prst="rect">
            <a:avLst/>
          </a:prstGeom>
          <a:noFill/>
          <a:ln/>
        </p:spPr>
        <p:txBody>
          <a:bodyPr wrap="square" lIns="0" tIns="0" rIns="0" bIns="0" rtlCol="0" anchor="t"/>
          <a:lstStyle/>
          <a:p>
            <a:pPr algn="l" indent="0" marL="0">
              <a:buNone/>
            </a:pPr>
            <a:r>
              <a:rPr lang="en-US" sz="800" b="1" dirty="0">
                <a:solidFill>
                  <a:srgbClr val="666666"/>
                </a:solidFill>
                <a:latin typeface="Pretendard" pitchFamily="34" charset="0"/>
                <a:ea typeface="Pretendard" pitchFamily="34" charset="-122"/>
                <a:cs typeface="Pretendard" pitchFamily="34" charset="-120"/>
              </a:rPr>
              <a:t>BNI K-CHAPTER · AI 시대 네트워킹 #2</a:t>
            </a:r>
            <a:endParaRPr lang="en-US" sz="800" dirty="0"/>
          </a:p>
        </p:txBody>
      </p:sp>
      <p:sp>
        <p:nvSpPr>
          <p:cNvPr id="4" name="Text 2"/>
          <p:cNvSpPr/>
          <p:nvPr/>
        </p:nvSpPr>
        <p:spPr>
          <a:xfrm>
            <a:off x="1269950" y="507950"/>
            <a:ext cx="4954226" cy="142875"/>
          </a:xfrm>
          <a:prstGeom prst="rect">
            <a:avLst/>
          </a:prstGeom>
          <a:noFill/>
          <a:ln/>
        </p:spPr>
        <p:txBody>
          <a:bodyPr wrap="square" lIns="0" tIns="0" rIns="0" bIns="0" rtlCol="0" anchor="t"/>
          <a:lstStyle/>
          <a:p>
            <a:pPr algn="l" indent="0" marL="0">
              <a:buNone/>
            </a:pPr>
            <a:r>
              <a:rPr lang="en-US" sz="900" dirty="0">
                <a:solidFill>
                  <a:srgbClr val="999999"/>
                </a:solidFill>
                <a:latin typeface="Pretendard" pitchFamily="34" charset="0"/>
                <a:ea typeface="Pretendard" pitchFamily="34" charset="-122"/>
                <a:cs typeface="Pretendard" pitchFamily="34" charset="-120"/>
              </a:rPr>
              <a:t>AI가 대체할 수 없는</a:t>
            </a:r>
            <a:endParaRPr lang="en-US" sz="900" dirty="0"/>
          </a:p>
        </p:txBody>
      </p:sp>
      <p:sp>
        <p:nvSpPr>
          <p:cNvPr id="5" name="Text 3"/>
          <p:cNvSpPr/>
          <p:nvPr/>
        </p:nvSpPr>
        <p:spPr>
          <a:xfrm>
            <a:off x="1269950" y="1502718"/>
            <a:ext cx="4954226" cy="1013371"/>
          </a:xfrm>
          <a:prstGeom prst="rect">
            <a:avLst/>
          </a:prstGeom>
          <a:noFill/>
          <a:ln/>
        </p:spPr>
        <p:txBody>
          <a:bodyPr wrap="square" lIns="0" tIns="0" rIns="0" bIns="0" rtlCol="0" anchor="t"/>
          <a:lstStyle/>
          <a:p>
            <a:pPr algn="l" indent="0" marL="0">
              <a:lnSpc>
                <a:spcPts val="7980"/>
              </a:lnSpc>
              <a:buNone/>
            </a:pPr>
            <a:r>
              <a:rPr lang="en-US" sz="7600" b="1" dirty="0">
                <a:solidFill>
                  <a:srgbClr val="1A1A1A"/>
                </a:solidFill>
                <a:latin typeface="Pretendard" pitchFamily="34" charset="0"/>
                <a:ea typeface="Pretendard" pitchFamily="34" charset="-122"/>
                <a:cs typeface="Pretendard" pitchFamily="34" charset="-120"/>
              </a:rPr>
              <a:t>내 Skills</a:t>
            </a:r>
            <a:endParaRPr lang="en-US" sz="7600" dirty="0"/>
          </a:p>
        </p:txBody>
      </p:sp>
      <p:sp>
        <p:nvSpPr>
          <p:cNvPr id="6" name="Text 4"/>
          <p:cNvSpPr/>
          <p:nvPr/>
        </p:nvSpPr>
        <p:spPr>
          <a:xfrm>
            <a:off x="1269950" y="2516088"/>
            <a:ext cx="4954226" cy="1013371"/>
          </a:xfrm>
          <a:prstGeom prst="rect">
            <a:avLst/>
          </a:prstGeom>
          <a:noFill/>
          <a:ln/>
        </p:spPr>
        <p:txBody>
          <a:bodyPr wrap="square" lIns="0" tIns="0" rIns="0" bIns="0" rtlCol="0" anchor="t"/>
          <a:lstStyle/>
          <a:p>
            <a:pPr algn="l" indent="0" marL="0">
              <a:lnSpc>
                <a:spcPts val="7980"/>
              </a:lnSpc>
              <a:buNone/>
            </a:pPr>
            <a:r>
              <a:rPr lang="en-US" sz="7600" b="1" dirty="0">
                <a:solidFill>
                  <a:srgbClr val="1A1A1A"/>
                </a:solidFill>
                <a:latin typeface="Pretendard" pitchFamily="34" charset="0"/>
                <a:ea typeface="Pretendard" pitchFamily="34" charset="-122"/>
                <a:cs typeface="Pretendard" pitchFamily="34" charset="-120"/>
              </a:rPr>
              <a:t>찾기</a:t>
            </a:r>
            <a:endParaRPr lang="en-US" sz="7600" dirty="0"/>
          </a:p>
        </p:txBody>
      </p:sp>
      <p:sp>
        <p:nvSpPr>
          <p:cNvPr id="7" name="Text 5"/>
          <p:cNvSpPr/>
          <p:nvPr/>
        </p:nvSpPr>
        <p:spPr>
          <a:xfrm>
            <a:off x="1269950" y="3834259"/>
            <a:ext cx="711101" cy="38100"/>
          </a:xfrm>
          <a:prstGeom prst="rect">
            <a:avLst/>
          </a:prstGeom>
          <a:solidFill>
            <a:srgbClr val="1A1A1A"/>
          </a:solidFill>
          <a:ln/>
        </p:spPr>
        <p:txBody>
          <a:bodyPr wrap="square" rtlCol="0" anchor="ctr"/>
          <a:lstStyle/>
          <a:p>
            <a:pPr indent="0" marL="0">
              <a:buNone/>
            </a:pPr>
            <a:endParaRPr lang="en-US" dirty="0"/>
          </a:p>
        </p:txBody>
      </p:sp>
      <p:sp>
        <p:nvSpPr>
          <p:cNvPr id="8" name="Text 6"/>
          <p:cNvSpPr/>
          <p:nvPr/>
        </p:nvSpPr>
        <p:spPr>
          <a:xfrm>
            <a:off x="1269950" y="4533900"/>
            <a:ext cx="837694" cy="152400"/>
          </a:xfrm>
          <a:prstGeom prst="rect">
            <a:avLst/>
          </a:prstGeom>
          <a:noFill/>
          <a:ln/>
        </p:spPr>
        <p:txBody>
          <a:bodyPr wrap="square" lIns="0" tIns="0" rIns="0" bIns="0" rtlCol="0" anchor="t"/>
          <a:lstStyle/>
          <a:p>
            <a:pPr algn="l" indent="0" marL="0">
              <a:buNone/>
            </a:pPr>
            <a:r>
              <a:rPr lang="en-US" sz="1000" dirty="0">
                <a:solidFill>
                  <a:srgbClr val="999999"/>
                </a:solidFill>
                <a:latin typeface="Pretendard" pitchFamily="34" charset="0"/>
                <a:ea typeface="Pretendard" pitchFamily="34" charset="-122"/>
                <a:cs typeface="Pretendard" pitchFamily="34" charset="-120"/>
              </a:rPr>
              <a:t>2026. 03. 24</a:t>
            </a:r>
            <a:endParaRPr lang="en-US" sz="1000" dirty="0"/>
          </a:p>
        </p:txBody>
      </p:sp>
      <p:sp>
        <p:nvSpPr>
          <p:cNvPr id="9" name="Text 7"/>
          <p:cNvSpPr/>
          <p:nvPr/>
        </p:nvSpPr>
        <p:spPr>
          <a:xfrm>
            <a:off x="4549676" y="4419600"/>
            <a:ext cx="1394073" cy="266700"/>
          </a:xfrm>
          <a:prstGeom prst="rect">
            <a:avLst/>
          </a:prstGeom>
          <a:solidFill>
            <a:srgbClr val="1A1A1A"/>
          </a:solidFill>
          <a:ln/>
        </p:spPr>
        <p:txBody>
          <a:bodyPr wrap="square" rtlCol="0" anchor="ctr"/>
          <a:lstStyle/>
          <a:p>
            <a:pPr indent="0" marL="0">
              <a:buNone/>
            </a:pPr>
            <a:endParaRPr lang="en-US" dirty="0"/>
          </a:p>
        </p:txBody>
      </p:sp>
      <p:sp>
        <p:nvSpPr>
          <p:cNvPr id="10" name="Text 8"/>
          <p:cNvSpPr/>
          <p:nvPr/>
        </p:nvSpPr>
        <p:spPr>
          <a:xfrm>
            <a:off x="4752826" y="4495800"/>
            <a:ext cx="1047039" cy="114300"/>
          </a:xfrm>
          <a:prstGeom prst="rect">
            <a:avLst/>
          </a:prstGeom>
          <a:noFill/>
          <a:ln/>
        </p:spPr>
        <p:txBody>
          <a:bodyPr wrap="square" lIns="0" tIns="0" rIns="0" bIns="0" rtlCol="0" anchor="t"/>
          <a:lstStyle/>
          <a:p>
            <a:pPr algn="l" indent="0" marL="0">
              <a:buNone/>
            </a:pPr>
            <a:r>
              <a:rPr lang="en-US" sz="800" b="1" dirty="0">
                <a:solidFill>
                  <a:srgbClr val="F5F5F0"/>
                </a:solidFill>
                <a:latin typeface="Pretendard" pitchFamily="34" charset="0"/>
                <a:ea typeface="Pretendard" pitchFamily="34" charset="-122"/>
                <a:cs typeface="Pretendard" pitchFamily="34" charset="-120"/>
              </a:rPr>
              <a:t>BNI K-CHAPTER</a:t>
            </a:r>
            <a:endParaRPr lang="en-US" sz="800" dirty="0"/>
          </a:p>
        </p:txBody>
      </p:sp>
      <p:sp>
        <p:nvSpPr>
          <p:cNvPr id="11" name="Text 9"/>
          <p:cNvSpPr/>
          <p:nvPr/>
        </p:nvSpPr>
        <p:spPr>
          <a:xfrm>
            <a:off x="6500366" y="1174700"/>
            <a:ext cx="3450794" cy="2793950"/>
          </a:xfrm>
          <a:prstGeom prst="rect">
            <a:avLst/>
          </a:prstGeom>
          <a:noFill/>
          <a:ln/>
        </p:spPr>
        <p:txBody>
          <a:bodyPr wrap="square" lIns="0" tIns="0" rIns="0" bIns="0" rtlCol="0" anchor="t"/>
          <a:lstStyle/>
          <a:p>
            <a:pPr algn="l" indent="0" marL="0">
              <a:lnSpc>
                <a:spcPts val="22000"/>
              </a:lnSpc>
              <a:buNone/>
            </a:pPr>
            <a:r>
              <a:rPr lang="en-US" sz="22000" b="1" dirty="0">
                <a:solidFill>
                  <a:srgbClr val="EEEEEA"/>
                </a:solidFill>
                <a:latin typeface="Pretendard" pitchFamily="34" charset="0"/>
                <a:ea typeface="Pretendard" pitchFamily="34" charset="-122"/>
                <a:cs typeface="Pretendard" pitchFamily="34" charset="-120"/>
              </a:rPr>
              <a:t>#2</a:t>
            </a:r>
            <a:endParaRPr lang="en-US" sz="2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914400" y="1461046"/>
            <a:ext cx="7754112" cy="284411"/>
          </a:xfrm>
          <a:prstGeom prst="rect">
            <a:avLst/>
          </a:prstGeom>
          <a:noFill/>
          <a:ln/>
        </p:spPr>
        <p:txBody>
          <a:bodyPr wrap="square" lIns="0" tIns="0" rIns="0" bIns="0" rtlCol="0" anchor="t"/>
          <a:lstStyle/>
          <a:p>
            <a:pPr algn="l" indent="0" marL="0">
              <a:lnSpc>
                <a:spcPts val="2240"/>
              </a:lnSpc>
              <a:spcAft>
                <a:spcPts val="800"/>
              </a:spcAft>
              <a:buNone/>
            </a:pPr>
            <a:r>
              <a:rPr lang="en-US" sz="1600" dirty="0">
                <a:solidFill>
                  <a:srgbClr val="666666"/>
                </a:solidFill>
                <a:latin typeface="Pretendard" pitchFamily="34" charset="0"/>
                <a:ea typeface="Pretendard" pitchFamily="34" charset="-122"/>
                <a:cs typeface="Pretendard" pitchFamily="34" charset="-120"/>
              </a:rPr>
              <a:t>이거 AI한테 시키면 되겠다 하고</a:t>
            </a:r>
            <a:endParaRPr lang="en-US" sz="1600" dirty="0"/>
          </a:p>
        </p:txBody>
      </p:sp>
      <p:sp>
        <p:nvSpPr>
          <p:cNvPr id="3" name="Text 1"/>
          <p:cNvSpPr/>
          <p:nvPr/>
        </p:nvSpPr>
        <p:spPr>
          <a:xfrm>
            <a:off x="914400" y="1846957"/>
            <a:ext cx="7754112" cy="609451"/>
          </a:xfrm>
          <a:prstGeom prst="rect">
            <a:avLst/>
          </a:prstGeom>
          <a:noFill/>
          <a:ln/>
        </p:spPr>
        <p:txBody>
          <a:bodyPr wrap="square" lIns="0" tIns="0" rIns="0" bIns="0" rtlCol="0" anchor="t"/>
          <a:lstStyle/>
          <a:p>
            <a:pPr algn="l" indent="0" marL="0">
              <a:lnSpc>
                <a:spcPts val="4800"/>
              </a:lnSpc>
              <a:buNone/>
            </a:pPr>
            <a:r>
              <a:rPr lang="en-US" sz="4000" b="1" dirty="0">
                <a:solidFill>
                  <a:srgbClr val="FFFFFF"/>
                </a:solidFill>
                <a:latin typeface="Pretendard" pitchFamily="34" charset="0"/>
                <a:ea typeface="Pretendard" pitchFamily="34" charset="-122"/>
                <a:cs typeface="Pretendard" pitchFamily="34" charset="-120"/>
              </a:rPr>
              <a:t>직원한테 줄 일을</a:t>
            </a:r>
            <a:endParaRPr lang="en-US" sz="4000" dirty="0"/>
          </a:p>
        </p:txBody>
      </p:sp>
      <p:sp>
        <p:nvSpPr>
          <p:cNvPr id="4" name="Text 2"/>
          <p:cNvSpPr/>
          <p:nvPr/>
        </p:nvSpPr>
        <p:spPr>
          <a:xfrm>
            <a:off x="914400" y="2456408"/>
            <a:ext cx="7754112" cy="609451"/>
          </a:xfrm>
          <a:prstGeom prst="rect">
            <a:avLst/>
          </a:prstGeom>
          <a:noFill/>
          <a:ln/>
        </p:spPr>
        <p:txBody>
          <a:bodyPr wrap="square" lIns="0" tIns="0" rIns="0" bIns="0" rtlCol="0" anchor="t"/>
          <a:lstStyle/>
          <a:p>
            <a:pPr algn="l" indent="0" marL="0">
              <a:lnSpc>
                <a:spcPts val="4800"/>
              </a:lnSpc>
              <a:buNone/>
            </a:pPr>
            <a:r>
              <a:rPr lang="en-US" sz="4000" b="1" dirty="0">
                <a:solidFill>
                  <a:srgbClr val="FFFFFF"/>
                </a:solidFill>
                <a:latin typeface="Pretendard" pitchFamily="34" charset="0"/>
                <a:ea typeface="Pretendard" pitchFamily="34" charset="-122"/>
                <a:cs typeface="Pretendard" pitchFamily="34" charset="-120"/>
              </a:rPr>
              <a:t>안 준 적 있으신 분?</a:t>
            </a:r>
            <a:endParaRPr lang="en-US" sz="4000" dirty="0"/>
          </a:p>
        </p:txBody>
      </p:sp>
      <p:sp>
        <p:nvSpPr>
          <p:cNvPr id="5" name="Shape 3"/>
          <p:cNvSpPr/>
          <p:nvPr/>
        </p:nvSpPr>
        <p:spPr>
          <a:xfrm>
            <a:off x="914400" y="3871317"/>
            <a:ext cx="7315200" cy="0"/>
          </a:xfrm>
          <a:prstGeom prst="line">
            <a:avLst/>
          </a:prstGeom>
          <a:noFill/>
          <a:ln w="9525">
            <a:solidFill>
              <a:srgbClr val="333333"/>
            </a:solidFill>
            <a:prstDash val="solid"/>
          </a:ln>
        </p:spPr>
      </p:sp>
      <p:sp>
        <p:nvSpPr>
          <p:cNvPr id="6" name="Text 4"/>
          <p:cNvSpPr/>
          <p:nvPr/>
        </p:nvSpPr>
        <p:spPr>
          <a:xfrm>
            <a:off x="914400" y="4180880"/>
            <a:ext cx="7754112" cy="302270"/>
          </a:xfrm>
          <a:prstGeom prst="rect">
            <a:avLst/>
          </a:prstGeom>
          <a:noFill/>
          <a:ln/>
        </p:spPr>
        <p:txBody>
          <a:bodyPr wrap="square" lIns="0" tIns="0" rIns="0" bIns="0" rtlCol="0" anchor="t"/>
          <a:lstStyle/>
          <a:p>
            <a:pPr algn="l" indent="0" marL="0">
              <a:lnSpc>
                <a:spcPts val="2380"/>
              </a:lnSpc>
              <a:buNone/>
            </a:pPr>
            <a:r>
              <a:rPr lang="en-US" sz="1400" dirty="0">
                <a:solidFill>
                  <a:srgbClr val="555555"/>
                </a:solidFill>
                <a:latin typeface="Pretendard" pitchFamily="34" charset="0"/>
                <a:ea typeface="Pretendard" pitchFamily="34" charset="-122"/>
                <a:cs typeface="Pretendard" pitchFamily="34" charset="-120"/>
              </a:rPr>
              <a:t>여러분의 고객도, 여러분한테 똑같은 생각을 하고 있을 수 있습니다.</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0"/>
        </a:solidFill>
      </p:bgPr>
    </p:bg>
    <p:spTree>
      <p:nvGrpSpPr>
        <p:cNvPr id="1" name=""/>
        <p:cNvGrpSpPr/>
        <p:nvPr/>
      </p:nvGrpSpPr>
      <p:grpSpPr>
        <a:xfrm>
          <a:off x="0" y="0"/>
          <a:ext cx="0" cy="0"/>
          <a:chOff x="0" y="0"/>
          <a:chExt cx="0" cy="0"/>
        </a:xfrm>
      </p:grpSpPr>
      <p:sp>
        <p:nvSpPr>
          <p:cNvPr id="2" name="Shape 0"/>
          <p:cNvSpPr/>
          <p:nvPr/>
        </p:nvSpPr>
        <p:spPr>
          <a:xfrm>
            <a:off x="2789188" y="0"/>
            <a:ext cx="0" cy="5143500"/>
          </a:xfrm>
          <a:prstGeom prst="line">
            <a:avLst/>
          </a:prstGeom>
          <a:noFill/>
          <a:ln w="9525">
            <a:solidFill>
              <a:srgbClr val="D4D4D0"/>
            </a:solidFill>
            <a:prstDash val="solid"/>
          </a:ln>
        </p:spPr>
      </p:sp>
      <p:pic>
        <p:nvPicPr>
          <p:cNvPr id="3" name="Image 0" descr="/Users/kimjimyoung/Documents/projects/bni-edu/ppt_team_agent/lectures/02_ai_skills/assets/claude-logo.png">    </p:cNvPr>
          <p:cNvPicPr>
            <a:picLocks noChangeAspect="1"/>
          </p:cNvPicPr>
          <p:nvPr/>
        </p:nvPicPr>
        <p:blipFill>
          <a:blip r:embed="rId1"/>
          <a:stretch>
            <a:fillRect/>
          </a:stretch>
        </p:blipFill>
        <p:spPr>
          <a:xfrm>
            <a:off x="558701" y="558701"/>
            <a:ext cx="406301" cy="406301"/>
          </a:xfrm>
          <a:prstGeom prst="rect">
            <a:avLst/>
          </a:prstGeom>
        </p:spPr>
      </p:pic>
      <p:sp>
        <p:nvSpPr>
          <p:cNvPr id="4" name="Text 1"/>
          <p:cNvSpPr/>
          <p:nvPr/>
        </p:nvSpPr>
        <p:spPr>
          <a:xfrm>
            <a:off x="1091952" y="611088"/>
            <a:ext cx="996083" cy="114300"/>
          </a:xfrm>
          <a:prstGeom prst="rect">
            <a:avLst/>
          </a:prstGeom>
          <a:noFill/>
          <a:ln/>
        </p:spPr>
        <p:txBody>
          <a:bodyPr wrap="square" lIns="0" tIns="0" rIns="0" bIns="0" rtlCol="0" anchor="t"/>
          <a:lstStyle/>
          <a:p>
            <a:pPr algn="l" indent="0" marL="0">
              <a:spcAft>
                <a:spcPts val="200"/>
              </a:spcAft>
              <a:buNone/>
            </a:pPr>
            <a:r>
              <a:rPr lang="en-US" sz="800" b="1" dirty="0">
                <a:solidFill>
                  <a:srgbClr val="999999"/>
                </a:solidFill>
                <a:latin typeface="Pretendard" pitchFamily="34" charset="0"/>
                <a:ea typeface="Pretendard" pitchFamily="34" charset="-122"/>
                <a:cs typeface="Pretendard" pitchFamily="34" charset="-120"/>
              </a:rPr>
              <a:t>ANTHROPIC</a:t>
            </a:r>
            <a:endParaRPr lang="en-US" sz="800" dirty="0"/>
          </a:p>
        </p:txBody>
      </p:sp>
      <p:sp>
        <p:nvSpPr>
          <p:cNvPr id="5" name="Text 2"/>
          <p:cNvSpPr/>
          <p:nvPr/>
        </p:nvSpPr>
        <p:spPr>
          <a:xfrm>
            <a:off x="1091952" y="750689"/>
            <a:ext cx="996083" cy="161925"/>
          </a:xfrm>
          <a:prstGeom prst="rect">
            <a:avLst/>
          </a:prstGeom>
          <a:noFill/>
          <a:ln/>
        </p:spPr>
        <p:txBody>
          <a:bodyPr wrap="square" lIns="0" tIns="0" rIns="0" bIns="0" rtlCol="0" anchor="t"/>
          <a:lstStyle/>
          <a:p>
            <a:pPr algn="l" indent="0" marL="0">
              <a:buNone/>
            </a:pPr>
            <a:r>
              <a:rPr lang="en-US" sz="1100" b="1" dirty="0">
                <a:solidFill>
                  <a:srgbClr val="1A1A1A"/>
                </a:solidFill>
                <a:latin typeface="Pretendard" pitchFamily="34" charset="0"/>
                <a:ea typeface="Pretendard" pitchFamily="34" charset="-122"/>
                <a:cs typeface="Pretendard" pitchFamily="34" charset="-120"/>
              </a:rPr>
              <a:t>Claude · Skills</a:t>
            </a:r>
            <a:endParaRPr lang="en-US" sz="1100" dirty="0"/>
          </a:p>
        </p:txBody>
      </p:sp>
      <p:sp>
        <p:nvSpPr>
          <p:cNvPr id="6" name="Text 3"/>
          <p:cNvSpPr/>
          <p:nvPr/>
        </p:nvSpPr>
        <p:spPr>
          <a:xfrm>
            <a:off x="558701" y="2266950"/>
            <a:ext cx="1928589" cy="533400"/>
          </a:xfrm>
          <a:prstGeom prst="rect">
            <a:avLst/>
          </a:prstGeom>
          <a:noFill/>
          <a:ln/>
        </p:spPr>
        <p:txBody>
          <a:bodyPr wrap="square" lIns="0" tIns="0" rIns="0" bIns="0" rtlCol="0" anchor="t"/>
          <a:lstStyle/>
          <a:p>
            <a:pPr algn="l" indent="0" marL="0">
              <a:lnSpc>
                <a:spcPts val="2100"/>
              </a:lnSpc>
              <a:buNone/>
            </a:pPr>
            <a:r>
              <a:rPr lang="en-US" sz="1200" dirty="0">
                <a:solidFill>
                  <a:srgbClr val="666666"/>
                </a:solidFill>
                <a:latin typeface="Pretendard" pitchFamily="34" charset="0"/>
                <a:ea typeface="Pretendard" pitchFamily="34" charset="-122"/>
                <a:cs typeface="Pretendard" pitchFamily="34" charset="-120"/>
              </a:rPr>
              <a:t>AI한테 회사 업무 방식을 가르치면</a:t>
            </a:r>
            <a:endParaRPr lang="en-US" sz="1200" dirty="0"/>
          </a:p>
        </p:txBody>
      </p:sp>
      <p:sp>
        <p:nvSpPr>
          <p:cNvPr id="7" name="Text 4"/>
          <p:cNvSpPr/>
          <p:nvPr/>
        </p:nvSpPr>
        <p:spPr>
          <a:xfrm>
            <a:off x="558701" y="2901851"/>
            <a:ext cx="1928589" cy="266700"/>
          </a:xfrm>
          <a:prstGeom prst="rect">
            <a:avLst/>
          </a:prstGeom>
          <a:noFill/>
          <a:ln/>
        </p:spPr>
        <p:txBody>
          <a:bodyPr wrap="square" lIns="0" tIns="0" rIns="0" bIns="0" rtlCol="0" anchor="t"/>
          <a:lstStyle/>
          <a:p>
            <a:pPr algn="l" indent="0" marL="0">
              <a:lnSpc>
                <a:spcPts val="2100"/>
              </a:lnSpc>
              <a:buNone/>
            </a:pPr>
            <a:r>
              <a:rPr lang="en-US" sz="1200" dirty="0">
                <a:solidFill>
                  <a:srgbClr val="666666"/>
                </a:solidFill>
                <a:latin typeface="Pretendard" pitchFamily="34" charset="0"/>
                <a:ea typeface="Pretendard" pitchFamily="34" charset="-122"/>
                <a:cs typeface="Pretendard" pitchFamily="34" charset="-120"/>
              </a:rPr>
              <a:t>이메일·제안서·PPT를</a:t>
            </a:r>
            <a:endParaRPr lang="en-US" sz="1200" dirty="0"/>
          </a:p>
        </p:txBody>
      </p:sp>
      <p:sp>
        <p:nvSpPr>
          <p:cNvPr id="8" name="Text 5"/>
          <p:cNvSpPr/>
          <p:nvPr/>
        </p:nvSpPr>
        <p:spPr>
          <a:xfrm>
            <a:off x="558701" y="3270052"/>
            <a:ext cx="1928589" cy="266700"/>
          </a:xfrm>
          <a:prstGeom prst="rect">
            <a:avLst/>
          </a:prstGeom>
          <a:noFill/>
          <a:ln/>
        </p:spPr>
        <p:txBody>
          <a:bodyPr wrap="square" lIns="0" tIns="0" rIns="0" bIns="0" rtlCol="0" anchor="t"/>
          <a:lstStyle/>
          <a:p>
            <a:pPr algn="l" indent="0" marL="0">
              <a:lnSpc>
                <a:spcPts val="2100"/>
              </a:lnSpc>
              <a:buNone/>
            </a:pPr>
            <a:r>
              <a:rPr lang="en-US" sz="1200" b="1" dirty="0">
                <a:solidFill>
                  <a:srgbClr val="1A1A1A"/>
                </a:solidFill>
                <a:latin typeface="Pretendard" pitchFamily="34" charset="0"/>
                <a:ea typeface="Pretendard" pitchFamily="34" charset="-122"/>
                <a:cs typeface="Pretendard" pitchFamily="34" charset="-120"/>
              </a:rPr>
              <a:t>우리 회사 스타일로 만든다</a:t>
            </a:r>
            <a:endParaRPr lang="en-US" sz="1200" dirty="0"/>
          </a:p>
        </p:txBody>
      </p:sp>
      <p:sp>
        <p:nvSpPr>
          <p:cNvPr id="9" name="Text 6"/>
          <p:cNvSpPr/>
          <p:nvPr/>
        </p:nvSpPr>
        <p:spPr>
          <a:xfrm>
            <a:off x="3352651" y="1581894"/>
            <a:ext cx="5492654" cy="161925"/>
          </a:xfrm>
          <a:prstGeom prst="rect">
            <a:avLst/>
          </a:prstGeom>
          <a:noFill/>
          <a:ln/>
        </p:spPr>
        <p:txBody>
          <a:bodyPr wrap="square" lIns="0" tIns="0" rIns="0" bIns="0" rtlCol="0" anchor="t"/>
          <a:lstStyle/>
          <a:p>
            <a:pPr algn="l" indent="0" marL="0">
              <a:spcAft>
                <a:spcPts val="1200"/>
              </a:spcAft>
              <a:buNone/>
            </a:pPr>
            <a:r>
              <a:rPr lang="en-US" sz="1100" dirty="0">
                <a:solidFill>
                  <a:srgbClr val="999999"/>
                </a:solidFill>
                <a:latin typeface="Pretendard" pitchFamily="34" charset="0"/>
                <a:ea typeface="Pretendard" pitchFamily="34" charset="-122"/>
                <a:cs typeface="Pretendard" pitchFamily="34" charset="-120"/>
              </a:rPr>
              <a:t>핵심 메시지</a:t>
            </a:r>
            <a:endParaRPr lang="en-US" sz="1100" dirty="0"/>
          </a:p>
        </p:txBody>
      </p:sp>
      <p:sp>
        <p:nvSpPr>
          <p:cNvPr id="10" name="Text 7"/>
          <p:cNvSpPr/>
          <p:nvPr/>
        </p:nvSpPr>
        <p:spPr>
          <a:xfrm>
            <a:off x="3352651" y="1896219"/>
            <a:ext cx="5492654" cy="554980"/>
          </a:xfrm>
          <a:prstGeom prst="rect">
            <a:avLst/>
          </a:prstGeom>
          <a:noFill/>
          <a:ln/>
        </p:spPr>
        <p:txBody>
          <a:bodyPr wrap="square" lIns="0" tIns="0" rIns="0" bIns="0" rtlCol="0" anchor="t"/>
          <a:lstStyle/>
          <a:p>
            <a:pPr algn="l" indent="0" marL="0">
              <a:lnSpc>
                <a:spcPts val="4370"/>
              </a:lnSpc>
              <a:buNone/>
            </a:pPr>
            <a:r>
              <a:rPr lang="en-US" sz="3800" b="1" dirty="0">
                <a:solidFill>
                  <a:srgbClr val="1A1A1A"/>
                </a:solidFill>
                <a:latin typeface="Pretendard" pitchFamily="34" charset="0"/>
                <a:ea typeface="Pretendard" pitchFamily="34" charset="-122"/>
                <a:cs typeface="Pretendard" pitchFamily="34" charset="-120"/>
              </a:rPr>
              <a:t>"3년차 직원처럼</a:t>
            </a:r>
            <a:endParaRPr lang="en-US" sz="3800" dirty="0"/>
          </a:p>
        </p:txBody>
      </p:sp>
      <p:sp>
        <p:nvSpPr>
          <p:cNvPr id="11" name="Text 8"/>
          <p:cNvSpPr/>
          <p:nvPr/>
        </p:nvSpPr>
        <p:spPr>
          <a:xfrm>
            <a:off x="3352651" y="2451199"/>
            <a:ext cx="5492654" cy="554980"/>
          </a:xfrm>
          <a:prstGeom prst="rect">
            <a:avLst/>
          </a:prstGeom>
          <a:noFill/>
          <a:ln/>
        </p:spPr>
        <p:txBody>
          <a:bodyPr wrap="square" lIns="0" tIns="0" rIns="0" bIns="0" rtlCol="0" anchor="t"/>
          <a:lstStyle/>
          <a:p>
            <a:pPr algn="l" indent="0" marL="0">
              <a:lnSpc>
                <a:spcPts val="4370"/>
              </a:lnSpc>
              <a:buNone/>
            </a:pPr>
            <a:r>
              <a:rPr lang="en-US" sz="3800" b="1" dirty="0">
                <a:solidFill>
                  <a:srgbClr val="1A1A1A"/>
                </a:solidFill>
                <a:latin typeface="Pretendard" pitchFamily="34" charset="0"/>
                <a:ea typeface="Pretendard" pitchFamily="34" charset="-122"/>
                <a:cs typeface="Pretendard" pitchFamily="34" charset="-120"/>
              </a:rPr>
              <a:t>알아서 일한다"</a:t>
            </a:r>
            <a:endParaRPr lang="en-US" sz="3800" dirty="0"/>
          </a:p>
        </p:txBody>
      </p:sp>
      <p:sp>
        <p:nvSpPr>
          <p:cNvPr id="12" name="Text 9"/>
          <p:cNvSpPr/>
          <p:nvPr/>
        </p:nvSpPr>
        <p:spPr>
          <a:xfrm>
            <a:off x="3352651" y="4029373"/>
            <a:ext cx="5181749" cy="555427"/>
          </a:xfrm>
          <a:prstGeom prst="rect">
            <a:avLst/>
          </a:prstGeom>
          <a:solidFill>
            <a:srgbClr val="1A1A1A"/>
          </a:solidFill>
          <a:ln/>
        </p:spPr>
        <p:txBody>
          <a:bodyPr wrap="square" rtlCol="0" anchor="ctr"/>
          <a:lstStyle/>
          <a:p>
            <a:pPr indent="0" marL="0">
              <a:buNone/>
            </a:pPr>
            <a:endParaRPr lang="en-US" dirty="0"/>
          </a:p>
        </p:txBody>
      </p:sp>
      <p:sp>
        <p:nvSpPr>
          <p:cNvPr id="13" name="Text 10"/>
          <p:cNvSpPr/>
          <p:nvPr/>
        </p:nvSpPr>
        <p:spPr>
          <a:xfrm>
            <a:off x="3657451" y="4207073"/>
            <a:ext cx="4846478" cy="200025"/>
          </a:xfrm>
          <a:prstGeom prst="rect">
            <a:avLst/>
          </a:prstGeom>
          <a:noFill/>
          <a:ln/>
        </p:spPr>
        <p:txBody>
          <a:bodyPr wrap="square" lIns="0" tIns="0" rIns="0" bIns="0" rtlCol="0" anchor="t"/>
          <a:lstStyle/>
          <a:p>
            <a:pPr algn="l" indent="0" marL="0">
              <a:buNone/>
            </a:pPr>
            <a:r>
              <a:rPr lang="en-US" sz="1300" b="1" dirty="0">
                <a:solidFill>
                  <a:srgbClr val="FFFFFF"/>
                </a:solidFill>
                <a:latin typeface="Pretendard" pitchFamily="34" charset="0"/>
                <a:ea typeface="Pretendard" pitchFamily="34" charset="-122"/>
                <a:cs typeface="Pretendard" pitchFamily="34" charset="-120"/>
              </a:rPr>
              <a:t>여러분 경쟁사도 이미 쓰고 있을 겁니다</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0"/>
        </a:solidFill>
      </p:bgPr>
    </p:bg>
    <p:spTree>
      <p:nvGrpSpPr>
        <p:cNvPr id="1" name=""/>
        <p:cNvGrpSpPr/>
        <p:nvPr/>
      </p:nvGrpSpPr>
      <p:grpSpPr>
        <a:xfrm>
          <a:off x="0" y="0"/>
          <a:ext cx="0" cy="0"/>
          <a:chOff x="0" y="0"/>
          <a:chExt cx="0" cy="0"/>
        </a:xfrm>
      </p:grpSpPr>
      <p:sp>
        <p:nvSpPr>
          <p:cNvPr id="2" name="Text 0"/>
          <p:cNvSpPr/>
          <p:nvPr/>
        </p:nvSpPr>
        <p:spPr>
          <a:xfrm>
            <a:off x="1015901" y="711101"/>
            <a:ext cx="7538930" cy="568970"/>
          </a:xfrm>
          <a:prstGeom prst="rect">
            <a:avLst/>
          </a:prstGeom>
          <a:noFill/>
          <a:ln/>
        </p:spPr>
        <p:txBody>
          <a:bodyPr wrap="square" lIns="0" tIns="0" rIns="0" bIns="0" rtlCol="0" anchor="t"/>
          <a:lstStyle/>
          <a:p>
            <a:pPr algn="l" indent="0" marL="0">
              <a:lnSpc>
                <a:spcPts val="4480"/>
              </a:lnSpc>
              <a:spcAft>
                <a:spcPts val="1200"/>
              </a:spcAft>
              <a:buNone/>
            </a:pPr>
            <a:r>
              <a:rPr lang="en-US" sz="5600" b="1" dirty="0">
                <a:solidFill>
                  <a:srgbClr val="D4D4D0"/>
                </a:solidFill>
                <a:latin typeface="Pretendard" pitchFamily="34" charset="0"/>
                <a:ea typeface="Pretendard" pitchFamily="34" charset="-122"/>
                <a:cs typeface="Pretendard" pitchFamily="34" charset="-120"/>
              </a:rPr>
              <a:t>"</a:t>
            </a:r>
            <a:endParaRPr lang="en-US" sz="5600" dirty="0"/>
          </a:p>
        </p:txBody>
      </p:sp>
      <p:sp>
        <p:nvSpPr>
          <p:cNvPr id="3" name="Text 1"/>
          <p:cNvSpPr/>
          <p:nvPr/>
        </p:nvSpPr>
        <p:spPr>
          <a:xfrm>
            <a:off x="1015901" y="1879848"/>
            <a:ext cx="7538930" cy="604391"/>
          </a:xfrm>
          <a:prstGeom prst="rect">
            <a:avLst/>
          </a:prstGeom>
          <a:noFill/>
          <a:ln/>
        </p:spPr>
        <p:txBody>
          <a:bodyPr wrap="square" lIns="0" tIns="0" rIns="0" bIns="0" rtlCol="0" anchor="t"/>
          <a:lstStyle/>
          <a:p>
            <a:pPr algn="l" indent="0" marL="0">
              <a:lnSpc>
                <a:spcPts val="4760"/>
              </a:lnSpc>
              <a:buNone/>
            </a:pPr>
            <a:r>
              <a:rPr lang="en-US" sz="3400" b="1" dirty="0">
                <a:solidFill>
                  <a:srgbClr val="1A1A1A"/>
                </a:solidFill>
                <a:latin typeface="Pretendard" pitchFamily="34" charset="0"/>
                <a:ea typeface="Pretendard" pitchFamily="34" charset="-122"/>
                <a:cs typeface="Pretendard" pitchFamily="34" charset="-120"/>
              </a:rPr>
              <a:t>잘해서 자르는 게 아니라,</a:t>
            </a:r>
            <a:endParaRPr lang="en-US" sz="3400" dirty="0"/>
          </a:p>
        </p:txBody>
      </p:sp>
      <p:sp>
        <p:nvSpPr>
          <p:cNvPr id="4" name="Text 2"/>
          <p:cNvSpPr/>
          <p:nvPr/>
        </p:nvSpPr>
        <p:spPr>
          <a:xfrm>
            <a:off x="1015901" y="2484239"/>
            <a:ext cx="7538930" cy="604391"/>
          </a:xfrm>
          <a:prstGeom prst="rect">
            <a:avLst/>
          </a:prstGeom>
          <a:noFill/>
          <a:ln/>
        </p:spPr>
        <p:txBody>
          <a:bodyPr wrap="square" lIns="0" tIns="0" rIns="0" bIns="0" rtlCol="0" anchor="t"/>
          <a:lstStyle/>
          <a:p>
            <a:pPr algn="l" indent="0" marL="0">
              <a:lnSpc>
                <a:spcPts val="4760"/>
              </a:lnSpc>
              <a:buNone/>
            </a:pPr>
            <a:r>
              <a:rPr lang="en-US" sz="3400" b="1" dirty="0">
                <a:solidFill>
                  <a:srgbClr val="1A1A1A"/>
                </a:solidFill>
                <a:latin typeface="Pretendard" pitchFamily="34" charset="0"/>
                <a:ea typeface="Pretendard" pitchFamily="34" charset="-122"/>
                <a:cs typeface="Pretendard" pitchFamily="34" charset="-120"/>
              </a:rPr>
              <a:t>잘할 것 같아서 자르고 있다</a:t>
            </a:r>
            <a:endParaRPr lang="en-US" sz="3400" dirty="0"/>
          </a:p>
        </p:txBody>
      </p:sp>
      <p:sp>
        <p:nvSpPr>
          <p:cNvPr id="5" name="Text 3"/>
          <p:cNvSpPr/>
          <p:nvPr/>
        </p:nvSpPr>
        <p:spPr>
          <a:xfrm>
            <a:off x="1015901" y="3291780"/>
            <a:ext cx="7538930" cy="152400"/>
          </a:xfrm>
          <a:prstGeom prst="rect">
            <a:avLst/>
          </a:prstGeom>
          <a:noFill/>
          <a:ln/>
        </p:spPr>
        <p:txBody>
          <a:bodyPr wrap="square" lIns="0" tIns="0" rIns="0" bIns="0" rtlCol="0" anchor="t"/>
          <a:lstStyle/>
          <a:p>
            <a:pPr algn="l" indent="0" marL="0">
              <a:spcBef>
                <a:spcPts val="1600"/>
              </a:spcBef>
              <a:buNone/>
            </a:pPr>
            <a:r>
              <a:rPr lang="en-US" sz="1000" dirty="0">
                <a:solidFill>
                  <a:srgbClr val="999999"/>
                </a:solidFill>
                <a:latin typeface="Pretendard" pitchFamily="34" charset="0"/>
                <a:ea typeface="Pretendard" pitchFamily="34" charset="-122"/>
                <a:cs typeface="Pretendard" pitchFamily="34" charset="-120"/>
              </a:rPr>
              <a:t>— Harvard Business Review, 2026</a:t>
            </a:r>
            <a:endParaRPr lang="en-US" sz="1000" dirty="0"/>
          </a:p>
        </p:txBody>
      </p:sp>
      <p:sp>
        <p:nvSpPr>
          <p:cNvPr id="6" name="Text 4"/>
          <p:cNvSpPr/>
          <p:nvPr/>
        </p:nvSpPr>
        <p:spPr>
          <a:xfrm>
            <a:off x="1015901" y="3891558"/>
            <a:ext cx="7112198" cy="12650"/>
          </a:xfrm>
          <a:prstGeom prst="rect">
            <a:avLst/>
          </a:prstGeom>
          <a:solidFill>
            <a:srgbClr val="D4D4D0"/>
          </a:solidFill>
          <a:ln/>
        </p:spPr>
        <p:txBody>
          <a:bodyPr wrap="square" rtlCol="0" anchor="ctr"/>
          <a:lstStyle/>
          <a:p>
            <a:pPr indent="0" marL="0">
              <a:buNone/>
            </a:pPr>
            <a:endParaRPr lang="en-US" dirty="0"/>
          </a:p>
        </p:txBody>
      </p:sp>
      <p:sp>
        <p:nvSpPr>
          <p:cNvPr id="7" name="Text 5"/>
          <p:cNvSpPr/>
          <p:nvPr/>
        </p:nvSpPr>
        <p:spPr>
          <a:xfrm>
            <a:off x="1015901" y="4158109"/>
            <a:ext cx="2431048" cy="325041"/>
          </a:xfrm>
          <a:prstGeom prst="rect">
            <a:avLst/>
          </a:prstGeom>
          <a:noFill/>
          <a:ln/>
        </p:spPr>
        <p:txBody>
          <a:bodyPr wrap="square" lIns="0" tIns="0" rIns="0" bIns="0" rtlCol="0" anchor="t"/>
          <a:lstStyle/>
          <a:p>
            <a:pPr algn="l" indent="0" marL="0">
              <a:lnSpc>
                <a:spcPts val="2560"/>
              </a:lnSpc>
              <a:buNone/>
            </a:pPr>
            <a:r>
              <a:rPr lang="en-US" sz="1600" i="1" dirty="0">
                <a:solidFill>
                  <a:srgbClr val="888888"/>
                </a:solidFill>
                <a:latin typeface="Pretendard" pitchFamily="34" charset="0"/>
                <a:ea typeface="Pretendard" pitchFamily="34" charset="-122"/>
                <a:cs typeface="Pretendard" pitchFamily="34" charset="-120"/>
              </a:rPr>
              <a:t>AI가 교육 대본도 써준다면...</a:t>
            </a:r>
            <a:endParaRPr lang="en-US" sz="1600" dirty="0"/>
          </a:p>
        </p:txBody>
      </p:sp>
      <p:sp>
        <p:nvSpPr>
          <p:cNvPr id="8" name="Text 6"/>
          <p:cNvSpPr/>
          <p:nvPr/>
        </p:nvSpPr>
        <p:spPr>
          <a:xfrm>
            <a:off x="3309342" y="4158109"/>
            <a:ext cx="2098021" cy="325041"/>
          </a:xfrm>
          <a:prstGeom prst="rect">
            <a:avLst/>
          </a:prstGeom>
          <a:noFill/>
          <a:ln/>
        </p:spPr>
        <p:txBody>
          <a:bodyPr wrap="square" lIns="0" tIns="0" rIns="0" bIns="0" rtlCol="0" anchor="t"/>
          <a:lstStyle/>
          <a:p>
            <a:pPr algn="l" indent="0" marL="0">
              <a:lnSpc>
                <a:spcPts val="2560"/>
              </a:lnSpc>
              <a:buNone/>
            </a:pPr>
            <a:r>
              <a:rPr lang="en-US" sz="1600" b="1" dirty="0">
                <a:solidFill>
                  <a:srgbClr val="1A1A1A"/>
                </a:solidFill>
                <a:latin typeface="Pretendard" pitchFamily="34" charset="0"/>
                <a:ea typeface="Pretendard" pitchFamily="34" charset="-122"/>
                <a:cs typeface="Pretendard" pitchFamily="34" charset="-120"/>
              </a:rPr>
              <a:t>내가 여기 서 있는 이유는?</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0"/>
        </a:solidFill>
      </p:bgPr>
    </p:bg>
    <p:spTree>
      <p:nvGrpSpPr>
        <p:cNvPr id="1" name=""/>
        <p:cNvGrpSpPr/>
        <p:nvPr/>
      </p:nvGrpSpPr>
      <p:grpSpPr>
        <a:xfrm>
          <a:off x="0" y="0"/>
          <a:ext cx="0" cy="0"/>
          <a:chOff x="0" y="0"/>
          <a:chExt cx="0" cy="0"/>
        </a:xfrm>
      </p:grpSpPr>
      <p:sp>
        <p:nvSpPr>
          <p:cNvPr id="2" name="Shape 0"/>
          <p:cNvSpPr/>
          <p:nvPr/>
        </p:nvSpPr>
        <p:spPr>
          <a:xfrm>
            <a:off x="4567238" y="0"/>
            <a:ext cx="0" cy="5143500"/>
          </a:xfrm>
          <a:prstGeom prst="line">
            <a:avLst/>
          </a:prstGeom>
          <a:noFill/>
          <a:ln w="9525">
            <a:solidFill>
              <a:srgbClr val="D4D4D0"/>
            </a:solidFill>
            <a:prstDash val="solid"/>
          </a:ln>
        </p:spPr>
      </p:sp>
      <p:pic>
        <p:nvPicPr>
          <p:cNvPr id="3" name="Image 0" descr="/Users/kimjimyoung/Documents/projects/bni-edu/ppt_team_agent/lectures/02_ai_skills/assets/notion-logo.png">    </p:cNvPr>
          <p:cNvPicPr>
            <a:picLocks noChangeAspect="1"/>
          </p:cNvPicPr>
          <p:nvPr/>
        </p:nvPicPr>
        <p:blipFill>
          <a:blip r:embed="rId1"/>
          <a:stretch>
            <a:fillRect/>
          </a:stretch>
        </p:blipFill>
        <p:spPr>
          <a:xfrm>
            <a:off x="660350" y="558701"/>
            <a:ext cx="304800" cy="304800"/>
          </a:xfrm>
          <a:prstGeom prst="rect">
            <a:avLst/>
          </a:prstGeom>
        </p:spPr>
      </p:pic>
      <p:sp>
        <p:nvSpPr>
          <p:cNvPr id="4" name="Text 1"/>
          <p:cNvSpPr/>
          <p:nvPr/>
        </p:nvSpPr>
        <p:spPr>
          <a:xfrm>
            <a:off x="1092101" y="644426"/>
            <a:ext cx="1244078" cy="133350"/>
          </a:xfrm>
          <a:prstGeom prst="rect">
            <a:avLst/>
          </a:prstGeom>
          <a:noFill/>
          <a:ln/>
        </p:spPr>
        <p:txBody>
          <a:bodyPr wrap="square" lIns="0" tIns="0" rIns="0" bIns="0" rtlCol="0" anchor="t"/>
          <a:lstStyle/>
          <a:p>
            <a:pPr algn="l" indent="0" marL="0">
              <a:buNone/>
            </a:pPr>
            <a:r>
              <a:rPr lang="en-US" sz="900" dirty="0">
                <a:solidFill>
                  <a:srgbClr val="999999"/>
                </a:solidFill>
                <a:latin typeface="Pretendard" pitchFamily="34" charset="0"/>
                <a:ea typeface="Pretendard" pitchFamily="34" charset="-122"/>
                <a:cs typeface="Pretendard" pitchFamily="34" charset="-120"/>
              </a:rPr>
              <a:t>NOTION RESEARCH</a:t>
            </a:r>
            <a:endParaRPr lang="en-US" sz="900" dirty="0"/>
          </a:p>
        </p:txBody>
      </p:sp>
      <p:sp>
        <p:nvSpPr>
          <p:cNvPr id="5" name="Text 2"/>
          <p:cNvSpPr/>
          <p:nvPr/>
        </p:nvSpPr>
        <p:spPr>
          <a:xfrm>
            <a:off x="660350" y="1757511"/>
            <a:ext cx="3597825" cy="152400"/>
          </a:xfrm>
          <a:prstGeom prst="rect">
            <a:avLst/>
          </a:prstGeom>
          <a:noFill/>
          <a:ln/>
        </p:spPr>
        <p:txBody>
          <a:bodyPr wrap="square" lIns="0" tIns="0" rIns="0" bIns="0" rtlCol="0" anchor="t"/>
          <a:lstStyle/>
          <a:p>
            <a:pPr algn="l" indent="0" marL="0">
              <a:spcAft>
                <a:spcPts val="1600"/>
              </a:spcAft>
              <a:buNone/>
            </a:pPr>
            <a:r>
              <a:rPr lang="en-US" sz="1000" dirty="0">
                <a:solidFill>
                  <a:srgbClr val="999999"/>
                </a:solidFill>
                <a:latin typeface="Pretendard" pitchFamily="34" charset="0"/>
                <a:ea typeface="Pretendard" pitchFamily="34" charset="-122"/>
                <a:cs typeface="Pretendard" pitchFamily="34" charset="-120"/>
              </a:rPr>
              <a:t>컨설턴트가 들어간 회사의 매출</a:t>
            </a:r>
            <a:endParaRPr lang="en-US" sz="1000" dirty="0"/>
          </a:p>
        </p:txBody>
      </p:sp>
      <p:sp>
        <p:nvSpPr>
          <p:cNvPr id="6" name="Text 3"/>
          <p:cNvSpPr/>
          <p:nvPr/>
        </p:nvSpPr>
        <p:spPr>
          <a:xfrm>
            <a:off x="660350" y="2113062"/>
            <a:ext cx="3597825" cy="1117550"/>
          </a:xfrm>
          <a:prstGeom prst="rect">
            <a:avLst/>
          </a:prstGeom>
          <a:noFill/>
          <a:ln/>
        </p:spPr>
        <p:txBody>
          <a:bodyPr wrap="square" lIns="0" tIns="0" rIns="0" bIns="0" rtlCol="0" anchor="t"/>
          <a:lstStyle/>
          <a:p>
            <a:pPr algn="l" indent="0" marL="0">
              <a:lnSpc>
                <a:spcPts val="8800"/>
              </a:lnSpc>
              <a:buNone/>
            </a:pPr>
            <a:r>
              <a:rPr lang="en-US" sz="8000" b="1" dirty="0">
                <a:solidFill>
                  <a:srgbClr val="1A1A1A"/>
                </a:solidFill>
                <a:latin typeface="Pretendard" pitchFamily="34" charset="0"/>
                <a:ea typeface="Pretendard" pitchFamily="34" charset="-122"/>
                <a:cs typeface="Pretendard" pitchFamily="34" charset="-120"/>
              </a:rPr>
              <a:t>2배</a:t>
            </a:r>
            <a:endParaRPr lang="en-US" sz="8000" dirty="0"/>
          </a:p>
        </p:txBody>
      </p:sp>
      <p:sp>
        <p:nvSpPr>
          <p:cNvPr id="7" name="Shape 4"/>
          <p:cNvSpPr/>
          <p:nvPr/>
        </p:nvSpPr>
        <p:spPr>
          <a:xfrm>
            <a:off x="660350" y="4129385"/>
            <a:ext cx="3394174" cy="0"/>
          </a:xfrm>
          <a:prstGeom prst="line">
            <a:avLst/>
          </a:prstGeom>
          <a:noFill/>
          <a:ln w="9525">
            <a:solidFill>
              <a:srgbClr val="D4D4D0"/>
            </a:solidFill>
            <a:prstDash val="solid"/>
          </a:ln>
        </p:spPr>
      </p:sp>
      <p:sp>
        <p:nvSpPr>
          <p:cNvPr id="8" name="Text 5"/>
          <p:cNvSpPr/>
          <p:nvPr/>
        </p:nvSpPr>
        <p:spPr>
          <a:xfrm>
            <a:off x="660350" y="4337298"/>
            <a:ext cx="3597825" cy="247501"/>
          </a:xfrm>
          <a:prstGeom prst="rect">
            <a:avLst/>
          </a:prstGeom>
          <a:noFill/>
          <a:ln/>
        </p:spPr>
        <p:txBody>
          <a:bodyPr wrap="square" lIns="0" tIns="0" rIns="0" bIns="0" rtlCol="0" anchor="t"/>
          <a:lstStyle/>
          <a:p>
            <a:pPr algn="l" indent="0" marL="0">
              <a:lnSpc>
                <a:spcPts val="1950"/>
              </a:lnSpc>
              <a:buNone/>
            </a:pPr>
            <a:r>
              <a:rPr lang="en-US" sz="1300" b="1" dirty="0">
                <a:solidFill>
                  <a:srgbClr val="1A1A1A"/>
                </a:solidFill>
                <a:latin typeface="Pretendard" pitchFamily="34" charset="0"/>
                <a:ea typeface="Pretendard" pitchFamily="34" charset="-122"/>
                <a:cs typeface="Pretendard" pitchFamily="34" charset="-120"/>
              </a:rPr>
              <a:t>"판단력은 복리로 쌓인다"</a:t>
            </a:r>
            <a:endParaRPr lang="en-US" sz="1300" dirty="0"/>
          </a:p>
        </p:txBody>
      </p:sp>
      <p:sp>
        <p:nvSpPr>
          <p:cNvPr id="9" name="Text 6"/>
          <p:cNvSpPr/>
          <p:nvPr/>
        </p:nvSpPr>
        <p:spPr>
          <a:xfrm>
            <a:off x="5181600" y="711696"/>
            <a:ext cx="3553968" cy="133350"/>
          </a:xfrm>
          <a:prstGeom prst="rect">
            <a:avLst/>
          </a:prstGeom>
          <a:noFill/>
          <a:ln/>
        </p:spPr>
        <p:txBody>
          <a:bodyPr wrap="square" lIns="0" tIns="0" rIns="0" bIns="0" rtlCol="0" anchor="t"/>
          <a:lstStyle/>
          <a:p>
            <a:pPr algn="l" indent="0" marL="0">
              <a:spcAft>
                <a:spcPts val="2400"/>
              </a:spcAft>
              <a:buNone/>
            </a:pPr>
            <a:r>
              <a:rPr lang="en-US" sz="900" b="1" dirty="0">
                <a:solidFill>
                  <a:srgbClr val="999999"/>
                </a:solidFill>
                <a:latin typeface="Pretendard" pitchFamily="34" charset="0"/>
                <a:ea typeface="Pretendard" pitchFamily="34" charset="-122"/>
                <a:cs typeface="Pretendard" pitchFamily="34" charset="-120"/>
              </a:rPr>
              <a:t>JUDGMENT ECONOMY</a:t>
            </a:r>
            <a:endParaRPr lang="en-US" sz="900" dirty="0"/>
          </a:p>
        </p:txBody>
      </p:sp>
      <p:sp>
        <p:nvSpPr>
          <p:cNvPr id="10" name="Text 7"/>
          <p:cNvSpPr/>
          <p:nvPr/>
        </p:nvSpPr>
        <p:spPr>
          <a:xfrm>
            <a:off x="5181600" y="1149846"/>
            <a:ext cx="3352800" cy="761702"/>
          </a:xfrm>
          <a:prstGeom prst="rect">
            <a:avLst/>
          </a:prstGeom>
          <a:solidFill>
            <a:srgbClr val="E8E8E3"/>
          </a:solidFill>
          <a:ln/>
        </p:spPr>
        <p:txBody>
          <a:bodyPr wrap="square" rtlCol="0" anchor="ctr"/>
          <a:lstStyle/>
          <a:p>
            <a:pPr indent="0" marL="0">
              <a:buNone/>
            </a:pPr>
            <a:endParaRPr lang="en-US" dirty="0"/>
          </a:p>
        </p:txBody>
      </p:sp>
      <p:sp>
        <p:nvSpPr>
          <p:cNvPr id="11" name="Text 8"/>
          <p:cNvSpPr/>
          <p:nvPr/>
        </p:nvSpPr>
        <p:spPr>
          <a:xfrm>
            <a:off x="5435501" y="1327547"/>
            <a:ext cx="3015698" cy="228600"/>
          </a:xfrm>
          <a:prstGeom prst="rect">
            <a:avLst/>
          </a:prstGeom>
          <a:noFill/>
          <a:ln/>
        </p:spPr>
        <p:txBody>
          <a:bodyPr wrap="square" lIns="0" tIns="0" rIns="0" bIns="0" rtlCol="0" anchor="t"/>
          <a:lstStyle/>
          <a:p>
            <a:pPr algn="l" indent="0" marL="0">
              <a:buNone/>
            </a:pPr>
            <a:r>
              <a:rPr lang="en-US" sz="1500" b="1" dirty="0">
                <a:solidFill>
                  <a:srgbClr val="1A1A1A"/>
                </a:solidFill>
                <a:latin typeface="Pretendard" pitchFamily="34" charset="0"/>
                <a:ea typeface="Pretendard" pitchFamily="34" charset="-122"/>
                <a:cs typeface="Pretendard" pitchFamily="34" charset="-120"/>
              </a:rPr>
              <a:t>AI 도구</a:t>
            </a:r>
            <a:endParaRPr lang="en-US" sz="1500" dirty="0"/>
          </a:p>
        </p:txBody>
      </p:sp>
      <p:sp>
        <p:nvSpPr>
          <p:cNvPr id="12" name="Text 9"/>
          <p:cNvSpPr/>
          <p:nvPr/>
        </p:nvSpPr>
        <p:spPr>
          <a:xfrm>
            <a:off x="5435501" y="1581448"/>
            <a:ext cx="3015698" cy="152400"/>
          </a:xfrm>
          <a:prstGeom prst="rect">
            <a:avLst/>
          </a:prstGeom>
          <a:noFill/>
          <a:ln/>
        </p:spPr>
        <p:txBody>
          <a:bodyPr wrap="square" lIns="0" tIns="0" rIns="0" bIns="0" rtlCol="0" anchor="t"/>
          <a:lstStyle/>
          <a:p>
            <a:pPr algn="l" indent="0" marL="0">
              <a:spcBef>
                <a:spcPts val="200"/>
              </a:spcBef>
              <a:buNone/>
            </a:pPr>
            <a:r>
              <a:rPr lang="en-US" sz="1000" dirty="0">
                <a:solidFill>
                  <a:srgbClr val="888888"/>
                </a:solidFill>
                <a:latin typeface="Pretendard" pitchFamily="34" charset="0"/>
                <a:ea typeface="Pretendard" pitchFamily="34" charset="-122"/>
                <a:cs typeface="Pretendard" pitchFamily="34" charset="-120"/>
              </a:rPr>
              <a:t>Claude, Notion, Perplexity...</a:t>
            </a:r>
            <a:endParaRPr lang="en-US" sz="1000" dirty="0"/>
          </a:p>
        </p:txBody>
      </p:sp>
      <p:sp>
        <p:nvSpPr>
          <p:cNvPr id="13" name="Text 10"/>
          <p:cNvSpPr/>
          <p:nvPr/>
        </p:nvSpPr>
        <p:spPr>
          <a:xfrm>
            <a:off x="5435501" y="2038499"/>
            <a:ext cx="3015698" cy="333375"/>
          </a:xfrm>
          <a:prstGeom prst="rect">
            <a:avLst/>
          </a:prstGeom>
          <a:noFill/>
          <a:ln/>
        </p:spPr>
        <p:txBody>
          <a:bodyPr wrap="square" lIns="0" tIns="0" rIns="0" bIns="0" rtlCol="0" anchor="t"/>
          <a:lstStyle/>
          <a:p>
            <a:pPr algn="l" indent="0" marL="0">
              <a:buNone/>
            </a:pPr>
            <a:r>
              <a:rPr lang="en-US" sz="2200" dirty="0">
                <a:solidFill>
                  <a:srgbClr val="1A1A1A"/>
                </a:solidFill>
                <a:latin typeface="Pretendard" pitchFamily="34" charset="0"/>
                <a:ea typeface="Pretendard" pitchFamily="34" charset="-122"/>
                <a:cs typeface="Pretendard" pitchFamily="34" charset="-120"/>
              </a:rPr>
              <a:t>+</a:t>
            </a:r>
            <a:endParaRPr lang="en-US" sz="2200" dirty="0"/>
          </a:p>
        </p:txBody>
      </p:sp>
      <p:sp>
        <p:nvSpPr>
          <p:cNvPr id="14" name="Text 11"/>
          <p:cNvSpPr/>
          <p:nvPr/>
        </p:nvSpPr>
        <p:spPr>
          <a:xfrm>
            <a:off x="5181600" y="2498824"/>
            <a:ext cx="3352800" cy="761702"/>
          </a:xfrm>
          <a:prstGeom prst="rect">
            <a:avLst/>
          </a:prstGeom>
          <a:solidFill>
            <a:srgbClr val="E8E8E3"/>
          </a:solidFill>
          <a:ln/>
        </p:spPr>
        <p:txBody>
          <a:bodyPr wrap="square" rtlCol="0" anchor="ctr"/>
          <a:lstStyle/>
          <a:p>
            <a:pPr indent="0" marL="0">
              <a:buNone/>
            </a:pPr>
            <a:endParaRPr lang="en-US" dirty="0"/>
          </a:p>
        </p:txBody>
      </p:sp>
      <p:sp>
        <p:nvSpPr>
          <p:cNvPr id="15" name="Text 12"/>
          <p:cNvSpPr/>
          <p:nvPr/>
        </p:nvSpPr>
        <p:spPr>
          <a:xfrm>
            <a:off x="5435501" y="2676525"/>
            <a:ext cx="3015698" cy="228600"/>
          </a:xfrm>
          <a:prstGeom prst="rect">
            <a:avLst/>
          </a:prstGeom>
          <a:noFill/>
          <a:ln/>
        </p:spPr>
        <p:txBody>
          <a:bodyPr wrap="square" lIns="0" tIns="0" rIns="0" bIns="0" rtlCol="0" anchor="t"/>
          <a:lstStyle/>
          <a:p>
            <a:pPr algn="l" indent="0" marL="0">
              <a:buNone/>
            </a:pPr>
            <a:r>
              <a:rPr lang="en-US" sz="1500" b="1" dirty="0">
                <a:solidFill>
                  <a:srgbClr val="1A1A1A"/>
                </a:solidFill>
                <a:latin typeface="Pretendard" pitchFamily="34" charset="0"/>
                <a:ea typeface="Pretendard" pitchFamily="34" charset="-122"/>
                <a:cs typeface="Pretendard" pitchFamily="34" charset="-120"/>
              </a:rPr>
              <a:t>사람의 판단력</a:t>
            </a:r>
            <a:endParaRPr lang="en-US" sz="1500" dirty="0"/>
          </a:p>
        </p:txBody>
      </p:sp>
      <p:sp>
        <p:nvSpPr>
          <p:cNvPr id="16" name="Text 13"/>
          <p:cNvSpPr/>
          <p:nvPr/>
        </p:nvSpPr>
        <p:spPr>
          <a:xfrm>
            <a:off x="5435501" y="2930426"/>
            <a:ext cx="3015698" cy="152400"/>
          </a:xfrm>
          <a:prstGeom prst="rect">
            <a:avLst/>
          </a:prstGeom>
          <a:noFill/>
          <a:ln/>
        </p:spPr>
        <p:txBody>
          <a:bodyPr wrap="square" lIns="0" tIns="0" rIns="0" bIns="0" rtlCol="0" anchor="t"/>
          <a:lstStyle/>
          <a:p>
            <a:pPr algn="l" indent="0" marL="0">
              <a:spcBef>
                <a:spcPts val="200"/>
              </a:spcBef>
              <a:buNone/>
            </a:pPr>
            <a:r>
              <a:rPr lang="en-US" sz="1000" dirty="0">
                <a:solidFill>
                  <a:srgbClr val="888888"/>
                </a:solidFill>
                <a:latin typeface="Pretendard" pitchFamily="34" charset="0"/>
                <a:ea typeface="Pretendard" pitchFamily="34" charset="-122"/>
                <a:cs typeface="Pretendard" pitchFamily="34" charset="-120"/>
              </a:rPr>
              <a:t>맥락 · 리스크 · 결정</a:t>
            </a:r>
            <a:endParaRPr lang="en-US" sz="1000" dirty="0"/>
          </a:p>
        </p:txBody>
      </p:sp>
      <p:sp>
        <p:nvSpPr>
          <p:cNvPr id="17" name="Text 14"/>
          <p:cNvSpPr/>
          <p:nvPr/>
        </p:nvSpPr>
        <p:spPr>
          <a:xfrm>
            <a:off x="5435501" y="3387477"/>
            <a:ext cx="3015698" cy="333375"/>
          </a:xfrm>
          <a:prstGeom prst="rect">
            <a:avLst/>
          </a:prstGeom>
          <a:noFill/>
          <a:ln/>
        </p:spPr>
        <p:txBody>
          <a:bodyPr wrap="square" lIns="0" tIns="0" rIns="0" bIns="0" rtlCol="0" anchor="t"/>
          <a:lstStyle/>
          <a:p>
            <a:pPr algn="l" indent="0" marL="0">
              <a:buNone/>
            </a:pPr>
            <a:r>
              <a:rPr lang="en-US" sz="2200" dirty="0">
                <a:solidFill>
                  <a:srgbClr val="1A1A1A"/>
                </a:solidFill>
                <a:latin typeface="Pretendard" pitchFamily="34" charset="0"/>
                <a:ea typeface="Pretendard" pitchFamily="34" charset="-122"/>
                <a:cs typeface="Pretendard" pitchFamily="34" charset="-120"/>
              </a:rPr>
              <a:t>=</a:t>
            </a:r>
            <a:endParaRPr lang="en-US" sz="2200" dirty="0"/>
          </a:p>
        </p:txBody>
      </p:sp>
      <p:sp>
        <p:nvSpPr>
          <p:cNvPr id="18" name="Text 15"/>
          <p:cNvSpPr/>
          <p:nvPr/>
        </p:nvSpPr>
        <p:spPr>
          <a:xfrm>
            <a:off x="5181600" y="3847802"/>
            <a:ext cx="3352800" cy="584002"/>
          </a:xfrm>
          <a:prstGeom prst="rect">
            <a:avLst/>
          </a:prstGeom>
          <a:solidFill>
            <a:srgbClr val="1A1A1A"/>
          </a:solidFill>
          <a:ln/>
        </p:spPr>
        <p:txBody>
          <a:bodyPr wrap="square" rtlCol="0" anchor="ctr"/>
          <a:lstStyle/>
          <a:p>
            <a:pPr indent="0" marL="0">
              <a:buNone/>
            </a:pPr>
            <a:endParaRPr lang="en-US" dirty="0"/>
          </a:p>
        </p:txBody>
      </p:sp>
      <p:sp>
        <p:nvSpPr>
          <p:cNvPr id="19" name="Text 16"/>
          <p:cNvSpPr/>
          <p:nvPr/>
        </p:nvSpPr>
        <p:spPr>
          <a:xfrm>
            <a:off x="5435501" y="4025503"/>
            <a:ext cx="3015698" cy="228600"/>
          </a:xfrm>
          <a:prstGeom prst="rect">
            <a:avLst/>
          </a:prstGeom>
          <a:noFill/>
          <a:ln/>
        </p:spPr>
        <p:txBody>
          <a:bodyPr wrap="square" lIns="0" tIns="0" rIns="0" bIns="0" rtlCol="0" anchor="t"/>
          <a:lstStyle/>
          <a:p>
            <a:pPr algn="l" indent="0" marL="0">
              <a:buNone/>
            </a:pPr>
            <a:r>
              <a:rPr lang="en-US" sz="1500" b="1" dirty="0">
                <a:solidFill>
                  <a:srgbClr val="F5F5F0"/>
                </a:solidFill>
                <a:latin typeface="Pretendard" pitchFamily="34" charset="0"/>
                <a:ea typeface="Pretendard" pitchFamily="34" charset="-122"/>
                <a:cs typeface="Pretendard" pitchFamily="34" charset="-120"/>
              </a:rPr>
              <a:t>매출 2배</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4948238" y="0"/>
            <a:ext cx="0" cy="5143500"/>
          </a:xfrm>
          <a:prstGeom prst="line">
            <a:avLst/>
          </a:prstGeom>
          <a:noFill/>
          <a:ln w="9525">
            <a:solidFill>
              <a:srgbClr val="2E2E2E"/>
            </a:solidFill>
            <a:prstDash val="solid"/>
          </a:ln>
        </p:spPr>
      </p:sp>
      <p:sp>
        <p:nvSpPr>
          <p:cNvPr id="3" name="Text 1"/>
          <p:cNvSpPr/>
          <p:nvPr/>
        </p:nvSpPr>
        <p:spPr>
          <a:xfrm>
            <a:off x="812750" y="660350"/>
            <a:ext cx="3947889" cy="114300"/>
          </a:xfrm>
          <a:prstGeom prst="rect">
            <a:avLst/>
          </a:prstGeom>
          <a:noFill/>
          <a:ln/>
        </p:spPr>
        <p:txBody>
          <a:bodyPr wrap="square" lIns="0" tIns="0" rIns="0" bIns="0" rtlCol="0" anchor="t"/>
          <a:lstStyle/>
          <a:p>
            <a:pPr algn="l" indent="0" marL="0">
              <a:spcAft>
                <a:spcPts val="2400"/>
              </a:spcAft>
              <a:buNone/>
            </a:pPr>
            <a:r>
              <a:rPr lang="en-US" sz="800" b="1" dirty="0">
                <a:solidFill>
                  <a:srgbClr val="555555"/>
                </a:solidFill>
                <a:latin typeface="Pretendard" pitchFamily="34" charset="0"/>
                <a:ea typeface="Pretendard" pitchFamily="34" charset="-122"/>
                <a:cs typeface="Pretendard" pitchFamily="34" charset="-120"/>
              </a:rPr>
              <a:t>CORE FRAMEWORK</a:t>
            </a:r>
            <a:endParaRPr lang="en-US" sz="800" dirty="0"/>
          </a:p>
        </p:txBody>
      </p:sp>
      <p:sp>
        <p:nvSpPr>
          <p:cNvPr id="4" name="Text 2"/>
          <p:cNvSpPr/>
          <p:nvPr/>
        </p:nvSpPr>
        <p:spPr>
          <a:xfrm>
            <a:off x="812750" y="1079450"/>
            <a:ext cx="3947889" cy="518071"/>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Pretendard" pitchFamily="34" charset="0"/>
                <a:ea typeface="Pretendard" pitchFamily="34" charset="-122"/>
                <a:cs typeface="Pretendard" pitchFamily="34" charset="-120"/>
              </a:rPr>
              <a:t>AI가 따라올 수 없는</a:t>
            </a:r>
            <a:endParaRPr lang="en-US" sz="3400" dirty="0"/>
          </a:p>
        </p:txBody>
      </p:sp>
      <p:sp>
        <p:nvSpPr>
          <p:cNvPr id="5" name="Text 3"/>
          <p:cNvSpPr/>
          <p:nvPr/>
        </p:nvSpPr>
        <p:spPr>
          <a:xfrm>
            <a:off x="812750" y="1597521"/>
            <a:ext cx="3947889" cy="518071"/>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Pretendard" pitchFamily="34" charset="0"/>
                <a:ea typeface="Pretendard" pitchFamily="34" charset="-122"/>
                <a:cs typeface="Pretendard" pitchFamily="34" charset="-120"/>
              </a:rPr>
              <a:t>세 가지 판단력</a:t>
            </a:r>
            <a:endParaRPr lang="en-US" sz="3400" dirty="0"/>
          </a:p>
        </p:txBody>
      </p:sp>
      <p:sp>
        <p:nvSpPr>
          <p:cNvPr id="6" name="Text 4"/>
          <p:cNvSpPr/>
          <p:nvPr/>
        </p:nvSpPr>
        <p:spPr>
          <a:xfrm>
            <a:off x="812750" y="4445050"/>
            <a:ext cx="507950" cy="38100"/>
          </a:xfrm>
          <a:prstGeom prst="rect">
            <a:avLst/>
          </a:prstGeom>
          <a:solidFill>
            <a:srgbClr val="FFFFFF"/>
          </a:solidFill>
          <a:ln/>
        </p:spPr>
        <p:txBody>
          <a:bodyPr wrap="square" rtlCol="0" anchor="ctr"/>
          <a:lstStyle/>
          <a:p>
            <a:pPr indent="0" marL="0">
              <a:buNone/>
            </a:pPr>
            <a:endParaRPr lang="en-US" dirty="0"/>
          </a:p>
        </p:txBody>
      </p:sp>
      <p:sp>
        <p:nvSpPr>
          <p:cNvPr id="7" name="Shape 5"/>
          <p:cNvSpPr/>
          <p:nvPr/>
        </p:nvSpPr>
        <p:spPr>
          <a:xfrm>
            <a:off x="5562600" y="2109788"/>
            <a:ext cx="2921050" cy="0"/>
          </a:xfrm>
          <a:prstGeom prst="line">
            <a:avLst/>
          </a:prstGeom>
          <a:noFill/>
          <a:ln w="9525">
            <a:solidFill>
              <a:srgbClr val="2E2E2E"/>
            </a:solidFill>
            <a:prstDash val="solid"/>
          </a:ln>
        </p:spPr>
      </p:sp>
      <p:sp>
        <p:nvSpPr>
          <p:cNvPr id="8" name="Text 6"/>
          <p:cNvSpPr/>
          <p:nvPr/>
        </p:nvSpPr>
        <p:spPr>
          <a:xfrm>
            <a:off x="5562600" y="1444675"/>
            <a:ext cx="430679" cy="406450"/>
          </a:xfrm>
          <a:prstGeom prst="rect">
            <a:avLst/>
          </a:prstGeom>
          <a:noFill/>
          <a:ln/>
        </p:spPr>
        <p:txBody>
          <a:bodyPr wrap="square" lIns="0" tIns="0" rIns="0" bIns="0" rtlCol="0" anchor="t"/>
          <a:lstStyle/>
          <a:p>
            <a:pPr algn="l" indent="0" marL="0">
              <a:lnSpc>
                <a:spcPts val="3200"/>
              </a:lnSpc>
              <a:buNone/>
            </a:pPr>
            <a:r>
              <a:rPr lang="en-US" sz="3200" b="1" dirty="0">
                <a:solidFill>
                  <a:srgbClr val="333333"/>
                </a:solidFill>
                <a:latin typeface="Pretendard" pitchFamily="34" charset="0"/>
                <a:ea typeface="Pretendard" pitchFamily="34" charset="-122"/>
                <a:cs typeface="Pretendard" pitchFamily="34" charset="-120"/>
              </a:rPr>
              <a:t>1</a:t>
            </a:r>
            <a:endParaRPr lang="en-US" sz="3200" dirty="0"/>
          </a:p>
        </p:txBody>
      </p:sp>
      <p:sp>
        <p:nvSpPr>
          <p:cNvPr id="9" name="Text 7"/>
          <p:cNvSpPr/>
          <p:nvPr/>
        </p:nvSpPr>
        <p:spPr>
          <a:xfrm>
            <a:off x="6172051" y="1597075"/>
            <a:ext cx="1382905" cy="238125"/>
          </a:xfrm>
          <a:prstGeom prst="rect">
            <a:avLst/>
          </a:prstGeom>
          <a:noFill/>
          <a:ln/>
        </p:spPr>
        <p:txBody>
          <a:bodyPr wrap="square" lIns="0" tIns="0" rIns="0" bIns="0" rtlCol="0" anchor="t"/>
          <a:lstStyle/>
          <a:p>
            <a:pPr algn="l" indent="0" marL="0">
              <a:buNone/>
            </a:pPr>
            <a:r>
              <a:rPr lang="en-US" sz="1600" dirty="0">
                <a:solidFill>
                  <a:srgbClr val="CCCCCC"/>
                </a:solidFill>
                <a:latin typeface="Pretendard" pitchFamily="34" charset="0"/>
                <a:ea typeface="Pretendard" pitchFamily="34" charset="-122"/>
                <a:cs typeface="Pretendard" pitchFamily="34" charset="-120"/>
              </a:rPr>
              <a:t>맥락을 읽는 판단</a:t>
            </a:r>
            <a:endParaRPr lang="en-US" sz="1600" dirty="0"/>
          </a:p>
        </p:txBody>
      </p:sp>
      <p:sp>
        <p:nvSpPr>
          <p:cNvPr id="10" name="Shape 8"/>
          <p:cNvSpPr/>
          <p:nvPr/>
        </p:nvSpPr>
        <p:spPr>
          <a:xfrm>
            <a:off x="5562600" y="3033564"/>
            <a:ext cx="2921050" cy="0"/>
          </a:xfrm>
          <a:prstGeom prst="line">
            <a:avLst/>
          </a:prstGeom>
          <a:noFill/>
          <a:ln w="9525">
            <a:solidFill>
              <a:srgbClr val="2E2E2E"/>
            </a:solidFill>
            <a:prstDash val="solid"/>
          </a:ln>
        </p:spPr>
      </p:sp>
      <p:sp>
        <p:nvSpPr>
          <p:cNvPr id="11" name="Text 9"/>
          <p:cNvSpPr/>
          <p:nvPr/>
        </p:nvSpPr>
        <p:spPr>
          <a:xfrm>
            <a:off x="5562600" y="2368451"/>
            <a:ext cx="430679" cy="406450"/>
          </a:xfrm>
          <a:prstGeom prst="rect">
            <a:avLst/>
          </a:prstGeom>
          <a:noFill/>
          <a:ln/>
        </p:spPr>
        <p:txBody>
          <a:bodyPr wrap="square" lIns="0" tIns="0" rIns="0" bIns="0" rtlCol="0" anchor="t"/>
          <a:lstStyle/>
          <a:p>
            <a:pPr algn="l" indent="0" marL="0">
              <a:lnSpc>
                <a:spcPts val="3200"/>
              </a:lnSpc>
              <a:buNone/>
            </a:pPr>
            <a:r>
              <a:rPr lang="en-US" sz="3200" b="1" dirty="0">
                <a:solidFill>
                  <a:srgbClr val="333333"/>
                </a:solidFill>
                <a:latin typeface="Pretendard" pitchFamily="34" charset="0"/>
                <a:ea typeface="Pretendard" pitchFamily="34" charset="-122"/>
                <a:cs typeface="Pretendard" pitchFamily="34" charset="-120"/>
              </a:rPr>
              <a:t>2</a:t>
            </a:r>
            <a:endParaRPr lang="en-US" sz="3200" dirty="0"/>
          </a:p>
        </p:txBody>
      </p:sp>
      <p:sp>
        <p:nvSpPr>
          <p:cNvPr id="12" name="Text 10"/>
          <p:cNvSpPr/>
          <p:nvPr/>
        </p:nvSpPr>
        <p:spPr>
          <a:xfrm>
            <a:off x="6172051" y="2520851"/>
            <a:ext cx="1935215" cy="238125"/>
          </a:xfrm>
          <a:prstGeom prst="rect">
            <a:avLst/>
          </a:prstGeom>
          <a:noFill/>
          <a:ln/>
        </p:spPr>
        <p:txBody>
          <a:bodyPr wrap="square" lIns="0" tIns="0" rIns="0" bIns="0" rtlCol="0" anchor="t"/>
          <a:lstStyle/>
          <a:p>
            <a:pPr algn="l" indent="0" marL="0">
              <a:buNone/>
            </a:pPr>
            <a:r>
              <a:rPr lang="en-US" sz="1600" dirty="0">
                <a:solidFill>
                  <a:srgbClr val="CCCCCC"/>
                </a:solidFill>
                <a:latin typeface="Pretendard" pitchFamily="34" charset="0"/>
                <a:ea typeface="Pretendard" pitchFamily="34" charset="-122"/>
                <a:cs typeface="Pretendard" pitchFamily="34" charset="-120"/>
              </a:rPr>
              <a:t>리스크를 감수하는 판단</a:t>
            </a:r>
            <a:endParaRPr lang="en-US" sz="1600" dirty="0"/>
          </a:p>
        </p:txBody>
      </p:sp>
      <p:sp>
        <p:nvSpPr>
          <p:cNvPr id="13" name="Text 11"/>
          <p:cNvSpPr/>
          <p:nvPr/>
        </p:nvSpPr>
        <p:spPr>
          <a:xfrm>
            <a:off x="5562600" y="3292227"/>
            <a:ext cx="430679" cy="406450"/>
          </a:xfrm>
          <a:prstGeom prst="rect">
            <a:avLst/>
          </a:prstGeom>
          <a:noFill/>
          <a:ln/>
        </p:spPr>
        <p:txBody>
          <a:bodyPr wrap="square" lIns="0" tIns="0" rIns="0" bIns="0" rtlCol="0" anchor="t"/>
          <a:lstStyle/>
          <a:p>
            <a:pPr algn="l" indent="0" marL="0">
              <a:lnSpc>
                <a:spcPts val="3200"/>
              </a:lnSpc>
              <a:buNone/>
            </a:pPr>
            <a:r>
              <a:rPr lang="en-US" sz="3200" b="1" dirty="0">
                <a:solidFill>
                  <a:srgbClr val="333333"/>
                </a:solidFill>
                <a:latin typeface="Pretendard" pitchFamily="34" charset="0"/>
                <a:ea typeface="Pretendard" pitchFamily="34" charset="-122"/>
                <a:cs typeface="Pretendard" pitchFamily="34" charset="-120"/>
              </a:rPr>
              <a:t>3</a:t>
            </a:r>
            <a:endParaRPr lang="en-US" sz="3200" dirty="0"/>
          </a:p>
        </p:txBody>
      </p:sp>
      <p:sp>
        <p:nvSpPr>
          <p:cNvPr id="14" name="Text 12"/>
          <p:cNvSpPr/>
          <p:nvPr/>
        </p:nvSpPr>
        <p:spPr>
          <a:xfrm>
            <a:off x="6172051" y="3444627"/>
            <a:ext cx="967686" cy="238125"/>
          </a:xfrm>
          <a:prstGeom prst="rect">
            <a:avLst/>
          </a:prstGeom>
          <a:noFill/>
          <a:ln/>
        </p:spPr>
        <p:txBody>
          <a:bodyPr wrap="square" lIns="0" tIns="0" rIns="0" bIns="0" rtlCol="0" anchor="t"/>
          <a:lstStyle/>
          <a:p>
            <a:pPr algn="l" indent="0" marL="0">
              <a:buNone/>
            </a:pPr>
            <a:r>
              <a:rPr lang="en-US" sz="1600" dirty="0">
                <a:solidFill>
                  <a:srgbClr val="CCCCCC"/>
                </a:solidFill>
                <a:latin typeface="Pretendard" pitchFamily="34" charset="0"/>
                <a:ea typeface="Pretendard" pitchFamily="34" charset="-122"/>
                <a:cs typeface="Pretendard" pitchFamily="34" charset="-120"/>
              </a:rPr>
              <a:t>버리는 판단</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0"/>
        </a:solidFill>
      </p:bgPr>
    </p:bg>
    <p:spTree>
      <p:nvGrpSpPr>
        <p:cNvPr id="1" name=""/>
        <p:cNvGrpSpPr/>
        <p:nvPr/>
      </p:nvGrpSpPr>
      <p:grpSpPr>
        <a:xfrm>
          <a:off x="0" y="0"/>
          <a:ext cx="0" cy="0"/>
          <a:chOff x="0" y="0"/>
          <a:chExt cx="0" cy="0"/>
        </a:xfrm>
      </p:grpSpPr>
      <p:sp>
        <p:nvSpPr>
          <p:cNvPr id="2" name="Text 0"/>
          <p:cNvSpPr/>
          <p:nvPr/>
        </p:nvSpPr>
        <p:spPr>
          <a:xfrm>
            <a:off x="558701" y="558701"/>
            <a:ext cx="832396" cy="241102"/>
          </a:xfrm>
          <a:prstGeom prst="rect">
            <a:avLst/>
          </a:prstGeom>
          <a:solidFill>
            <a:srgbClr val="1A1A1A"/>
          </a:solidFill>
          <a:ln/>
        </p:spPr>
        <p:txBody>
          <a:bodyPr wrap="square" rtlCol="0" anchor="ctr"/>
          <a:lstStyle/>
          <a:p>
            <a:pPr indent="0" marL="0">
              <a:buNone/>
            </a:pPr>
            <a:endParaRPr lang="en-US" dirty="0"/>
          </a:p>
        </p:txBody>
      </p:sp>
      <p:sp>
        <p:nvSpPr>
          <p:cNvPr id="3" name="Text 1"/>
          <p:cNvSpPr/>
          <p:nvPr/>
        </p:nvSpPr>
        <p:spPr>
          <a:xfrm>
            <a:off x="736402" y="622102"/>
            <a:ext cx="505614" cy="114300"/>
          </a:xfrm>
          <a:prstGeom prst="rect">
            <a:avLst/>
          </a:prstGeom>
          <a:noFill/>
          <a:ln/>
        </p:spPr>
        <p:txBody>
          <a:bodyPr wrap="square" lIns="0" tIns="0" rIns="0" bIns="0" rtlCol="0" anchor="t"/>
          <a:lstStyle/>
          <a:p>
            <a:pPr algn="l" indent="0" marL="0">
              <a:buNone/>
            </a:pPr>
            <a:r>
              <a:rPr lang="en-US" sz="800" b="1" dirty="0">
                <a:solidFill>
                  <a:srgbClr val="FFFFFF"/>
                </a:solidFill>
                <a:latin typeface="Pretendard" pitchFamily="34" charset="0"/>
                <a:ea typeface="Pretendard" pitchFamily="34" charset="-122"/>
                <a:cs typeface="Pretendard" pitchFamily="34" charset="-120"/>
              </a:rPr>
              <a:t>SKILL 1</a:t>
            </a:r>
            <a:endParaRPr lang="en-US" sz="800" dirty="0"/>
          </a:p>
        </p:txBody>
      </p:sp>
      <p:sp>
        <p:nvSpPr>
          <p:cNvPr id="4" name="Text 2"/>
          <p:cNvSpPr/>
          <p:nvPr/>
        </p:nvSpPr>
        <p:spPr>
          <a:xfrm>
            <a:off x="558701" y="926753"/>
            <a:ext cx="8508194" cy="396180"/>
          </a:xfrm>
          <a:prstGeom prst="rect">
            <a:avLst/>
          </a:prstGeom>
          <a:noFill/>
          <a:ln/>
        </p:spPr>
        <p:txBody>
          <a:bodyPr wrap="square" lIns="0" tIns="0" rIns="0" bIns="0" rtlCol="0" anchor="t"/>
          <a:lstStyle/>
          <a:p>
            <a:pPr algn="l" indent="0" marL="0">
              <a:lnSpc>
                <a:spcPts val="3120"/>
              </a:lnSpc>
              <a:spcAft>
                <a:spcPts val="2400"/>
              </a:spcAft>
              <a:buNone/>
            </a:pPr>
            <a:r>
              <a:rPr lang="en-US" sz="2600" b="1" dirty="0">
                <a:solidFill>
                  <a:srgbClr val="1A1A1A"/>
                </a:solidFill>
                <a:latin typeface="Pretendard" pitchFamily="34" charset="0"/>
                <a:ea typeface="Pretendard" pitchFamily="34" charset="-122"/>
                <a:cs typeface="Pretendard" pitchFamily="34" charset="-120"/>
              </a:rPr>
              <a:t>맥락을 읽는 판단</a:t>
            </a:r>
            <a:endParaRPr lang="en-US" sz="2600" dirty="0"/>
          </a:p>
        </p:txBody>
      </p:sp>
      <p:sp>
        <p:nvSpPr>
          <p:cNvPr id="5" name="Text 3"/>
          <p:cNvSpPr/>
          <p:nvPr/>
        </p:nvSpPr>
        <p:spPr>
          <a:xfrm>
            <a:off x="558701" y="1627733"/>
            <a:ext cx="8026598" cy="1079599"/>
          </a:xfrm>
          <a:prstGeom prst="rect">
            <a:avLst/>
          </a:prstGeom>
          <a:solidFill>
            <a:srgbClr val="E8E8E3"/>
          </a:solidFill>
          <a:ln/>
        </p:spPr>
        <p:txBody>
          <a:bodyPr wrap="square" rtlCol="0" anchor="ctr"/>
          <a:lstStyle/>
          <a:p>
            <a:pPr indent="0" marL="0">
              <a:buNone/>
            </a:pPr>
            <a:endParaRPr lang="en-US" dirty="0"/>
          </a:p>
        </p:txBody>
      </p:sp>
      <p:sp>
        <p:nvSpPr>
          <p:cNvPr id="6" name="Shape 4"/>
          <p:cNvSpPr/>
          <p:nvPr/>
        </p:nvSpPr>
        <p:spPr>
          <a:xfrm>
            <a:off x="582513" y="1627733"/>
            <a:ext cx="0" cy="1079599"/>
          </a:xfrm>
          <a:prstGeom prst="line">
            <a:avLst/>
          </a:prstGeom>
          <a:noFill/>
          <a:ln w="47625">
            <a:solidFill>
              <a:srgbClr val="1A1A1A"/>
            </a:solidFill>
            <a:prstDash val="solid"/>
          </a:ln>
        </p:spPr>
      </p:sp>
      <p:sp>
        <p:nvSpPr>
          <p:cNvPr id="7" name="Text 5"/>
          <p:cNvSpPr/>
          <p:nvPr/>
        </p:nvSpPr>
        <p:spPr>
          <a:xfrm>
            <a:off x="911126" y="1856333"/>
            <a:ext cx="7811536" cy="311200"/>
          </a:xfrm>
          <a:prstGeom prst="rect">
            <a:avLst/>
          </a:prstGeom>
          <a:noFill/>
          <a:ln/>
        </p:spPr>
        <p:txBody>
          <a:bodyPr wrap="square" lIns="0" tIns="0" rIns="0" bIns="0" rtlCol="0" anchor="t"/>
          <a:lstStyle/>
          <a:p>
            <a:pPr algn="l" indent="0" marL="0">
              <a:lnSpc>
                <a:spcPts val="2450"/>
              </a:lnSpc>
              <a:buNone/>
            </a:pPr>
            <a:r>
              <a:rPr lang="en-US" sz="1400" dirty="0">
                <a:solidFill>
                  <a:srgbClr val="1A1A1A"/>
                </a:solidFill>
                <a:latin typeface="Pretendard" pitchFamily="34" charset="0"/>
                <a:ea typeface="Pretendard" pitchFamily="34" charset="-122"/>
                <a:cs typeface="Pretendard" pitchFamily="34" charset="-120"/>
              </a:rPr>
              <a:t>"올해 좀 힘들어요..." 라는 거래처 사장님의 말이</a:t>
            </a:r>
            <a:endParaRPr lang="en-US" sz="1400" dirty="0"/>
          </a:p>
        </p:txBody>
      </p:sp>
      <p:sp>
        <p:nvSpPr>
          <p:cNvPr id="8" name="Text 6"/>
          <p:cNvSpPr/>
          <p:nvPr/>
        </p:nvSpPr>
        <p:spPr>
          <a:xfrm>
            <a:off x="911126" y="2167533"/>
            <a:ext cx="7811536" cy="311200"/>
          </a:xfrm>
          <a:prstGeom prst="rect">
            <a:avLst/>
          </a:prstGeom>
          <a:noFill/>
          <a:ln/>
        </p:spPr>
        <p:txBody>
          <a:bodyPr wrap="square" lIns="0" tIns="0" rIns="0" bIns="0" rtlCol="0" anchor="t"/>
          <a:lstStyle/>
          <a:p>
            <a:pPr algn="l" indent="0" marL="0">
              <a:lnSpc>
                <a:spcPts val="2450"/>
              </a:lnSpc>
              <a:buNone/>
            </a:pPr>
            <a:r>
              <a:rPr lang="en-US" sz="1400" dirty="0">
                <a:solidFill>
                  <a:srgbClr val="1A1A1A"/>
                </a:solidFill>
                <a:latin typeface="Pretendard" pitchFamily="34" charset="0"/>
                <a:ea typeface="Pretendard" pitchFamily="34" charset="-122"/>
                <a:cs typeface="Pretendard" pitchFamily="34" charset="-120"/>
              </a:rPr>
              <a:t>단순 세금 불만인지, 사업 정리 고민인지 알아채는 것</a:t>
            </a:r>
            <a:endParaRPr lang="en-US" sz="1400" dirty="0"/>
          </a:p>
        </p:txBody>
      </p:sp>
      <p:sp>
        <p:nvSpPr>
          <p:cNvPr id="9" name="Text 7"/>
          <p:cNvSpPr/>
          <p:nvPr/>
        </p:nvSpPr>
        <p:spPr>
          <a:xfrm>
            <a:off x="558701" y="4315569"/>
            <a:ext cx="4806092" cy="319980"/>
          </a:xfrm>
          <a:prstGeom prst="rect">
            <a:avLst/>
          </a:prstGeom>
          <a:noFill/>
          <a:ln/>
        </p:spPr>
        <p:txBody>
          <a:bodyPr wrap="square" lIns="0" tIns="0" rIns="0" bIns="0" rtlCol="0" anchor="t"/>
          <a:lstStyle/>
          <a:p>
            <a:pPr algn="l" indent="0" marL="0">
              <a:lnSpc>
                <a:spcPts val="2520"/>
              </a:lnSpc>
              <a:buNone/>
            </a:pPr>
            <a:r>
              <a:rPr lang="en-US" sz="1800" b="1" dirty="0">
                <a:solidFill>
                  <a:srgbClr val="1A1A1A"/>
                </a:solidFill>
                <a:latin typeface="Pretendard" pitchFamily="34" charset="0"/>
                <a:ea typeface="Pretendard" pitchFamily="34" charset="-122"/>
                <a:cs typeface="Pretendard" pitchFamily="34" charset="-120"/>
              </a:rPr>
              <a:t>소주 한잔의 대화에서 나오는 맥락은 AI에게 없습니다</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0"/>
        </a:solidFill>
      </p:bgPr>
    </p:bg>
    <p:spTree>
      <p:nvGrpSpPr>
        <p:cNvPr id="1" name=""/>
        <p:cNvGrpSpPr/>
        <p:nvPr/>
      </p:nvGrpSpPr>
      <p:grpSpPr>
        <a:xfrm>
          <a:off x="0" y="0"/>
          <a:ext cx="0" cy="0"/>
          <a:chOff x="0" y="0"/>
          <a:chExt cx="0" cy="0"/>
        </a:xfrm>
      </p:grpSpPr>
      <p:sp>
        <p:nvSpPr>
          <p:cNvPr id="2" name="Text 0"/>
          <p:cNvSpPr/>
          <p:nvPr/>
        </p:nvSpPr>
        <p:spPr>
          <a:xfrm>
            <a:off x="558701" y="558701"/>
            <a:ext cx="845790" cy="241102"/>
          </a:xfrm>
          <a:prstGeom prst="rect">
            <a:avLst/>
          </a:prstGeom>
          <a:solidFill>
            <a:srgbClr val="1A1A1A"/>
          </a:solidFill>
          <a:ln/>
        </p:spPr>
        <p:txBody>
          <a:bodyPr wrap="square" rtlCol="0" anchor="ctr"/>
          <a:lstStyle/>
          <a:p>
            <a:pPr indent="0" marL="0">
              <a:buNone/>
            </a:pPr>
            <a:endParaRPr lang="en-US" dirty="0"/>
          </a:p>
        </p:txBody>
      </p:sp>
      <p:sp>
        <p:nvSpPr>
          <p:cNvPr id="3" name="Text 1"/>
          <p:cNvSpPr/>
          <p:nvPr/>
        </p:nvSpPr>
        <p:spPr>
          <a:xfrm>
            <a:off x="736402" y="622102"/>
            <a:ext cx="519812" cy="114300"/>
          </a:xfrm>
          <a:prstGeom prst="rect">
            <a:avLst/>
          </a:prstGeom>
          <a:noFill/>
          <a:ln/>
        </p:spPr>
        <p:txBody>
          <a:bodyPr wrap="square" lIns="0" tIns="0" rIns="0" bIns="0" rtlCol="0" anchor="t"/>
          <a:lstStyle/>
          <a:p>
            <a:pPr algn="l" indent="0" marL="0">
              <a:buNone/>
            </a:pPr>
            <a:r>
              <a:rPr lang="en-US" sz="800" b="1" dirty="0">
                <a:solidFill>
                  <a:srgbClr val="FFFFFF"/>
                </a:solidFill>
                <a:latin typeface="Pretendard" pitchFamily="34" charset="0"/>
                <a:ea typeface="Pretendard" pitchFamily="34" charset="-122"/>
                <a:cs typeface="Pretendard" pitchFamily="34" charset="-120"/>
              </a:rPr>
              <a:t>SKILL 2</a:t>
            </a:r>
            <a:endParaRPr lang="en-US" sz="800" dirty="0"/>
          </a:p>
        </p:txBody>
      </p:sp>
      <p:sp>
        <p:nvSpPr>
          <p:cNvPr id="4" name="Text 2"/>
          <p:cNvSpPr/>
          <p:nvPr/>
        </p:nvSpPr>
        <p:spPr>
          <a:xfrm>
            <a:off x="558701" y="926753"/>
            <a:ext cx="8508194" cy="396180"/>
          </a:xfrm>
          <a:prstGeom prst="rect">
            <a:avLst/>
          </a:prstGeom>
          <a:noFill/>
          <a:ln/>
        </p:spPr>
        <p:txBody>
          <a:bodyPr wrap="square" lIns="0" tIns="0" rIns="0" bIns="0" rtlCol="0" anchor="t"/>
          <a:lstStyle/>
          <a:p>
            <a:pPr algn="l" indent="0" marL="0">
              <a:lnSpc>
                <a:spcPts val="3120"/>
              </a:lnSpc>
              <a:spcAft>
                <a:spcPts val="2400"/>
              </a:spcAft>
              <a:buNone/>
            </a:pPr>
            <a:r>
              <a:rPr lang="en-US" sz="2600" b="1" dirty="0">
                <a:solidFill>
                  <a:srgbClr val="1A1A1A"/>
                </a:solidFill>
                <a:latin typeface="Pretendard" pitchFamily="34" charset="0"/>
                <a:ea typeface="Pretendard" pitchFamily="34" charset="-122"/>
                <a:cs typeface="Pretendard" pitchFamily="34" charset="-120"/>
              </a:rPr>
              <a:t>리스크를 감수하는 판단</a:t>
            </a:r>
            <a:endParaRPr lang="en-US" sz="2600" dirty="0"/>
          </a:p>
        </p:txBody>
      </p:sp>
      <p:sp>
        <p:nvSpPr>
          <p:cNvPr id="5" name="Text 3"/>
          <p:cNvSpPr/>
          <p:nvPr/>
        </p:nvSpPr>
        <p:spPr>
          <a:xfrm>
            <a:off x="558701" y="1627733"/>
            <a:ext cx="8026598" cy="1079599"/>
          </a:xfrm>
          <a:prstGeom prst="rect">
            <a:avLst/>
          </a:prstGeom>
          <a:solidFill>
            <a:srgbClr val="E8E8E3"/>
          </a:solidFill>
          <a:ln/>
        </p:spPr>
        <p:txBody>
          <a:bodyPr wrap="square" rtlCol="0" anchor="ctr"/>
          <a:lstStyle/>
          <a:p>
            <a:pPr indent="0" marL="0">
              <a:buNone/>
            </a:pPr>
            <a:endParaRPr lang="en-US" dirty="0"/>
          </a:p>
        </p:txBody>
      </p:sp>
      <p:sp>
        <p:nvSpPr>
          <p:cNvPr id="6" name="Shape 4"/>
          <p:cNvSpPr/>
          <p:nvPr/>
        </p:nvSpPr>
        <p:spPr>
          <a:xfrm>
            <a:off x="582513" y="1627733"/>
            <a:ext cx="0" cy="1079599"/>
          </a:xfrm>
          <a:prstGeom prst="line">
            <a:avLst/>
          </a:prstGeom>
          <a:noFill/>
          <a:ln w="47625">
            <a:solidFill>
              <a:srgbClr val="1A1A1A"/>
            </a:solidFill>
            <a:prstDash val="solid"/>
          </a:ln>
        </p:spPr>
      </p:sp>
      <p:sp>
        <p:nvSpPr>
          <p:cNvPr id="7" name="Text 5"/>
          <p:cNvSpPr/>
          <p:nvPr/>
        </p:nvSpPr>
        <p:spPr>
          <a:xfrm>
            <a:off x="911126" y="1856333"/>
            <a:ext cx="7811536" cy="311200"/>
          </a:xfrm>
          <a:prstGeom prst="rect">
            <a:avLst/>
          </a:prstGeom>
          <a:noFill/>
          <a:ln/>
        </p:spPr>
        <p:txBody>
          <a:bodyPr wrap="square" lIns="0" tIns="0" rIns="0" bIns="0" rtlCol="0" anchor="t"/>
          <a:lstStyle/>
          <a:p>
            <a:pPr algn="l" indent="0" marL="0">
              <a:lnSpc>
                <a:spcPts val="2450"/>
              </a:lnSpc>
              <a:buNone/>
            </a:pPr>
            <a:r>
              <a:rPr lang="en-US" sz="1400" dirty="0">
                <a:solidFill>
                  <a:srgbClr val="1A1A1A"/>
                </a:solidFill>
                <a:latin typeface="Pretendard" pitchFamily="34" charset="0"/>
                <a:ea typeface="Pretendard" pitchFamily="34" charset="-122"/>
                <a:cs typeface="Pretendard" pitchFamily="34" charset="-120"/>
              </a:rPr>
              <a:t>발주 중단을 추천받아도,</a:t>
            </a:r>
            <a:endParaRPr lang="en-US" sz="1400" dirty="0"/>
          </a:p>
        </p:txBody>
      </p:sp>
      <p:sp>
        <p:nvSpPr>
          <p:cNvPr id="8" name="Text 6"/>
          <p:cNvSpPr/>
          <p:nvPr/>
        </p:nvSpPr>
        <p:spPr>
          <a:xfrm>
            <a:off x="911126" y="2167533"/>
            <a:ext cx="7811536" cy="311200"/>
          </a:xfrm>
          <a:prstGeom prst="rect">
            <a:avLst/>
          </a:prstGeom>
          <a:noFill/>
          <a:ln/>
        </p:spPr>
        <p:txBody>
          <a:bodyPr wrap="square" lIns="0" tIns="0" rIns="0" bIns="0" rtlCol="0" anchor="t"/>
          <a:lstStyle/>
          <a:p>
            <a:pPr algn="l" indent="0" marL="0">
              <a:lnSpc>
                <a:spcPts val="2450"/>
              </a:lnSpc>
              <a:buNone/>
            </a:pPr>
            <a:r>
              <a:rPr lang="en-US" sz="1400" dirty="0">
                <a:solidFill>
                  <a:srgbClr val="1A1A1A"/>
                </a:solidFill>
                <a:latin typeface="Pretendard" pitchFamily="34" charset="0"/>
                <a:ea typeface="Pretendard" pitchFamily="34" charset="-122"/>
                <a:cs typeface="Pretendard" pitchFamily="34" charset="-120"/>
              </a:rPr>
              <a:t>"어려울 때 도와주면 갚을 사람"이라며 밀어붙이는 것</a:t>
            </a:r>
            <a:endParaRPr lang="en-US" sz="1400" dirty="0"/>
          </a:p>
        </p:txBody>
      </p:sp>
      <p:sp>
        <p:nvSpPr>
          <p:cNvPr id="9" name="Text 7"/>
          <p:cNvSpPr/>
          <p:nvPr/>
        </p:nvSpPr>
        <p:spPr>
          <a:xfrm>
            <a:off x="558701" y="4009579"/>
            <a:ext cx="3399996" cy="312986"/>
          </a:xfrm>
          <a:prstGeom prst="rect">
            <a:avLst/>
          </a:prstGeom>
          <a:noFill/>
          <a:ln/>
        </p:spPr>
        <p:txBody>
          <a:bodyPr wrap="square" lIns="0" tIns="0" rIns="0" bIns="0" rtlCol="0" anchor="t"/>
          <a:lstStyle/>
          <a:p>
            <a:pPr algn="l" indent="0" marL="0">
              <a:lnSpc>
                <a:spcPts val="2465"/>
              </a:lnSpc>
              <a:buNone/>
            </a:pPr>
            <a:r>
              <a:rPr lang="en-US" sz="1700" b="1" dirty="0">
                <a:solidFill>
                  <a:srgbClr val="1A1A1A"/>
                </a:solidFill>
                <a:latin typeface="Pretendard" pitchFamily="34" charset="0"/>
                <a:ea typeface="Pretendard" pitchFamily="34" charset="-122"/>
                <a:cs typeface="Pretendard" pitchFamily="34" charset="-120"/>
              </a:rPr>
              <a:t>AI는 추천은 하지만 책임지지 않습니다.</a:t>
            </a:r>
            <a:endParaRPr lang="en-US" sz="1700" dirty="0"/>
          </a:p>
        </p:txBody>
      </p:sp>
      <p:sp>
        <p:nvSpPr>
          <p:cNvPr id="10" name="Text 8"/>
          <p:cNvSpPr/>
          <p:nvPr/>
        </p:nvSpPr>
        <p:spPr>
          <a:xfrm>
            <a:off x="558701" y="4322564"/>
            <a:ext cx="3364816" cy="312986"/>
          </a:xfrm>
          <a:prstGeom prst="rect">
            <a:avLst/>
          </a:prstGeom>
          <a:noFill/>
          <a:ln/>
        </p:spPr>
        <p:txBody>
          <a:bodyPr wrap="square" lIns="0" tIns="0" rIns="0" bIns="0" rtlCol="0" anchor="t"/>
          <a:lstStyle/>
          <a:p>
            <a:pPr algn="l" indent="0" marL="0">
              <a:lnSpc>
                <a:spcPts val="2465"/>
              </a:lnSpc>
              <a:buNone/>
            </a:pPr>
            <a:r>
              <a:rPr lang="en-US" sz="1700" b="1" dirty="0">
                <a:solidFill>
                  <a:srgbClr val="1A1A1A"/>
                </a:solidFill>
                <a:latin typeface="Pretendard" pitchFamily="34" charset="0"/>
                <a:ea typeface="Pretendard" pitchFamily="34" charset="-122"/>
                <a:cs typeface="Pretendard" pitchFamily="34" charset="-120"/>
              </a:rPr>
              <a:t>새벽 2시에 전화 받는 건 여러분이에요.</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0"/>
        </a:solidFill>
      </p:bgPr>
    </p:bg>
    <p:spTree>
      <p:nvGrpSpPr>
        <p:cNvPr id="1" name=""/>
        <p:cNvGrpSpPr/>
        <p:nvPr/>
      </p:nvGrpSpPr>
      <p:grpSpPr>
        <a:xfrm>
          <a:off x="0" y="0"/>
          <a:ext cx="0" cy="0"/>
          <a:chOff x="0" y="0"/>
          <a:chExt cx="0" cy="0"/>
        </a:xfrm>
      </p:grpSpPr>
      <p:sp>
        <p:nvSpPr>
          <p:cNvPr id="2" name="Text 0"/>
          <p:cNvSpPr/>
          <p:nvPr/>
        </p:nvSpPr>
        <p:spPr>
          <a:xfrm>
            <a:off x="558701" y="558701"/>
            <a:ext cx="848469" cy="241102"/>
          </a:xfrm>
          <a:prstGeom prst="rect">
            <a:avLst/>
          </a:prstGeom>
          <a:solidFill>
            <a:srgbClr val="1A1A1A"/>
          </a:solidFill>
          <a:ln/>
        </p:spPr>
        <p:txBody>
          <a:bodyPr wrap="square" rtlCol="0" anchor="ctr"/>
          <a:lstStyle/>
          <a:p>
            <a:pPr indent="0" marL="0">
              <a:buNone/>
            </a:pPr>
            <a:endParaRPr lang="en-US" dirty="0"/>
          </a:p>
        </p:txBody>
      </p:sp>
      <p:sp>
        <p:nvSpPr>
          <p:cNvPr id="3" name="Text 1"/>
          <p:cNvSpPr/>
          <p:nvPr/>
        </p:nvSpPr>
        <p:spPr>
          <a:xfrm>
            <a:off x="736402" y="622102"/>
            <a:ext cx="522652" cy="114300"/>
          </a:xfrm>
          <a:prstGeom prst="rect">
            <a:avLst/>
          </a:prstGeom>
          <a:noFill/>
          <a:ln/>
        </p:spPr>
        <p:txBody>
          <a:bodyPr wrap="square" lIns="0" tIns="0" rIns="0" bIns="0" rtlCol="0" anchor="t"/>
          <a:lstStyle/>
          <a:p>
            <a:pPr algn="l" indent="0" marL="0">
              <a:buNone/>
            </a:pPr>
            <a:r>
              <a:rPr lang="en-US" sz="800" b="1" dirty="0">
                <a:solidFill>
                  <a:srgbClr val="FFFFFF"/>
                </a:solidFill>
                <a:latin typeface="Pretendard" pitchFamily="34" charset="0"/>
                <a:ea typeface="Pretendard" pitchFamily="34" charset="-122"/>
                <a:cs typeface="Pretendard" pitchFamily="34" charset="-120"/>
              </a:rPr>
              <a:t>SKILL 3</a:t>
            </a:r>
            <a:endParaRPr lang="en-US" sz="800" dirty="0"/>
          </a:p>
        </p:txBody>
      </p:sp>
      <p:sp>
        <p:nvSpPr>
          <p:cNvPr id="4" name="Text 2"/>
          <p:cNvSpPr/>
          <p:nvPr/>
        </p:nvSpPr>
        <p:spPr>
          <a:xfrm>
            <a:off x="558701" y="926753"/>
            <a:ext cx="8508194" cy="396180"/>
          </a:xfrm>
          <a:prstGeom prst="rect">
            <a:avLst/>
          </a:prstGeom>
          <a:noFill/>
          <a:ln/>
        </p:spPr>
        <p:txBody>
          <a:bodyPr wrap="square" lIns="0" tIns="0" rIns="0" bIns="0" rtlCol="0" anchor="t"/>
          <a:lstStyle/>
          <a:p>
            <a:pPr algn="l" indent="0" marL="0">
              <a:lnSpc>
                <a:spcPts val="3120"/>
              </a:lnSpc>
              <a:spcAft>
                <a:spcPts val="2400"/>
              </a:spcAft>
              <a:buNone/>
            </a:pPr>
            <a:r>
              <a:rPr lang="en-US" sz="2600" b="1" dirty="0">
                <a:solidFill>
                  <a:srgbClr val="1A1A1A"/>
                </a:solidFill>
                <a:latin typeface="Pretendard" pitchFamily="34" charset="0"/>
                <a:ea typeface="Pretendard" pitchFamily="34" charset="-122"/>
                <a:cs typeface="Pretendard" pitchFamily="34" charset="-120"/>
              </a:rPr>
              <a:t>버리는 판단</a:t>
            </a:r>
            <a:endParaRPr lang="en-US" sz="2600" dirty="0"/>
          </a:p>
        </p:txBody>
      </p:sp>
      <p:sp>
        <p:nvSpPr>
          <p:cNvPr id="5" name="Text 3"/>
          <p:cNvSpPr/>
          <p:nvPr/>
        </p:nvSpPr>
        <p:spPr>
          <a:xfrm>
            <a:off x="558701" y="1627733"/>
            <a:ext cx="8026598" cy="888802"/>
          </a:xfrm>
          <a:prstGeom prst="rect">
            <a:avLst/>
          </a:prstGeom>
          <a:solidFill>
            <a:srgbClr val="1A1A1A"/>
          </a:solidFill>
          <a:ln/>
        </p:spPr>
        <p:txBody>
          <a:bodyPr wrap="square" rtlCol="0" anchor="ctr"/>
          <a:lstStyle/>
          <a:p>
            <a:pPr indent="0" marL="0">
              <a:buNone/>
            </a:pPr>
            <a:endParaRPr lang="en-US" dirty="0"/>
          </a:p>
        </p:txBody>
      </p:sp>
      <p:sp>
        <p:nvSpPr>
          <p:cNvPr id="6" name="Text 4"/>
          <p:cNvSpPr/>
          <p:nvPr/>
        </p:nvSpPr>
        <p:spPr>
          <a:xfrm>
            <a:off x="914251" y="1881634"/>
            <a:ext cx="7754428" cy="381000"/>
          </a:xfrm>
          <a:prstGeom prst="rect">
            <a:avLst/>
          </a:prstGeom>
          <a:noFill/>
          <a:ln/>
        </p:spPr>
        <p:txBody>
          <a:bodyPr wrap="square" lIns="0" tIns="0" rIns="0" bIns="0" rtlCol="0" anchor="t"/>
          <a:lstStyle/>
          <a:p>
            <a:pPr algn="l" indent="0" marL="0">
              <a:lnSpc>
                <a:spcPts val="3000"/>
              </a:lnSpc>
              <a:buNone/>
            </a:pPr>
            <a:r>
              <a:rPr lang="en-US" sz="2000" b="1" dirty="0">
                <a:solidFill>
                  <a:srgbClr val="FFFFFF"/>
                </a:solidFill>
                <a:latin typeface="Pretendard" pitchFamily="34" charset="0"/>
                <a:ea typeface="Pretendard" pitchFamily="34" charset="-122"/>
                <a:cs typeface="Pretendard" pitchFamily="34" charset="-120"/>
              </a:rPr>
              <a:t>"사장님, 이건 안 하시는 게 맞습니다"</a:t>
            </a:r>
            <a:endParaRPr lang="en-US" sz="2000" dirty="0"/>
          </a:p>
        </p:txBody>
      </p:sp>
      <p:sp>
        <p:nvSpPr>
          <p:cNvPr id="7" name="Text 5"/>
          <p:cNvSpPr/>
          <p:nvPr/>
        </p:nvSpPr>
        <p:spPr>
          <a:xfrm>
            <a:off x="558701" y="4006007"/>
            <a:ext cx="2714854" cy="314771"/>
          </a:xfrm>
          <a:prstGeom prst="rect">
            <a:avLst/>
          </a:prstGeom>
          <a:noFill/>
          <a:ln/>
        </p:spPr>
        <p:txBody>
          <a:bodyPr wrap="square" lIns="0" tIns="0" rIns="0" bIns="0" rtlCol="0" anchor="t"/>
          <a:lstStyle/>
          <a:p>
            <a:pPr algn="l" indent="0" marL="0">
              <a:lnSpc>
                <a:spcPts val="2480"/>
              </a:lnSpc>
              <a:buNone/>
            </a:pPr>
            <a:r>
              <a:rPr lang="en-US" sz="1600" b="1" dirty="0">
                <a:solidFill>
                  <a:srgbClr val="1A1A1A"/>
                </a:solidFill>
                <a:latin typeface="Pretendard" pitchFamily="34" charset="0"/>
                <a:ea typeface="Pretendard" pitchFamily="34" charset="-122"/>
                <a:cs typeface="Pretendard" pitchFamily="34" charset="-120"/>
              </a:rPr>
              <a:t>'안 한다'고 말할 수 있는 것,</a:t>
            </a:r>
            <a:endParaRPr lang="en-US" sz="1600" dirty="0"/>
          </a:p>
        </p:txBody>
      </p:sp>
      <p:sp>
        <p:nvSpPr>
          <p:cNvPr id="8" name="Text 6"/>
          <p:cNvSpPr/>
          <p:nvPr/>
        </p:nvSpPr>
        <p:spPr>
          <a:xfrm>
            <a:off x="558701" y="4320778"/>
            <a:ext cx="2714854" cy="314771"/>
          </a:xfrm>
          <a:prstGeom prst="rect">
            <a:avLst/>
          </a:prstGeom>
          <a:noFill/>
          <a:ln/>
        </p:spPr>
        <p:txBody>
          <a:bodyPr wrap="square" lIns="0" tIns="0" rIns="0" bIns="0" rtlCol="0" anchor="t"/>
          <a:lstStyle/>
          <a:p>
            <a:pPr algn="l" indent="0" marL="0">
              <a:lnSpc>
                <a:spcPts val="2480"/>
              </a:lnSpc>
              <a:buNone/>
            </a:pPr>
            <a:r>
              <a:rPr lang="en-US" sz="1600" b="1" dirty="0">
                <a:solidFill>
                  <a:srgbClr val="1A1A1A"/>
                </a:solidFill>
                <a:latin typeface="Pretendard" pitchFamily="34" charset="0"/>
                <a:ea typeface="Pretendard" pitchFamily="34" charset="-122"/>
                <a:cs typeface="Pretendard" pitchFamily="34" charset="-120"/>
              </a:rPr>
              <a:t>그것이 수수료의 진짜 근거입니다</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0"/>
        </a:solidFill>
      </p:bgPr>
    </p:bg>
    <p:spTree>
      <p:nvGrpSpPr>
        <p:cNvPr id="1" name=""/>
        <p:cNvGrpSpPr/>
        <p:nvPr/>
      </p:nvGrpSpPr>
      <p:grpSpPr>
        <a:xfrm>
          <a:off x="0" y="0"/>
          <a:ext cx="0" cy="0"/>
          <a:chOff x="0" y="0"/>
          <a:chExt cx="0" cy="0"/>
        </a:xfrm>
      </p:grpSpPr>
      <p:sp>
        <p:nvSpPr>
          <p:cNvPr id="2" name="Shape 0"/>
          <p:cNvSpPr/>
          <p:nvPr/>
        </p:nvSpPr>
        <p:spPr>
          <a:xfrm>
            <a:off x="0" y="553938"/>
            <a:ext cx="9144000" cy="0"/>
          </a:xfrm>
          <a:prstGeom prst="line">
            <a:avLst/>
          </a:prstGeom>
          <a:noFill/>
          <a:ln w="9525">
            <a:solidFill>
              <a:srgbClr val="D4D4D0"/>
            </a:solidFill>
            <a:prstDash val="solid"/>
          </a:ln>
        </p:spPr>
      </p:sp>
      <p:sp>
        <p:nvSpPr>
          <p:cNvPr id="3" name="Text 1"/>
          <p:cNvSpPr/>
          <p:nvPr/>
        </p:nvSpPr>
        <p:spPr>
          <a:xfrm>
            <a:off x="660350" y="203150"/>
            <a:ext cx="8292697" cy="142875"/>
          </a:xfrm>
          <a:prstGeom prst="rect">
            <a:avLst/>
          </a:prstGeom>
          <a:noFill/>
          <a:ln/>
        </p:spPr>
        <p:txBody>
          <a:bodyPr wrap="square" lIns="0" tIns="0" rIns="0" bIns="0" rtlCol="0" anchor="t"/>
          <a:lstStyle/>
          <a:p>
            <a:pPr algn="l" indent="0" marL="0">
              <a:buNone/>
            </a:pPr>
            <a:r>
              <a:rPr lang="en-US" sz="900" b="1" dirty="0">
                <a:solidFill>
                  <a:srgbClr val="1A1A1A"/>
                </a:solidFill>
                <a:latin typeface="Pretendard" pitchFamily="34" charset="0"/>
                <a:ea typeface="Pretendard" pitchFamily="34" charset="-122"/>
                <a:cs typeface="Pretendard" pitchFamily="34" charset="-120"/>
              </a:rPr>
              <a:t>BNI 60초 소개 — Before / After</a:t>
            </a:r>
            <a:endParaRPr lang="en-US" sz="900" dirty="0"/>
          </a:p>
        </p:txBody>
      </p:sp>
      <p:sp>
        <p:nvSpPr>
          <p:cNvPr id="4" name="Text 2"/>
          <p:cNvSpPr/>
          <p:nvPr/>
        </p:nvSpPr>
        <p:spPr>
          <a:xfrm>
            <a:off x="0" y="558701"/>
            <a:ext cx="3403550" cy="4584799"/>
          </a:xfrm>
          <a:prstGeom prst="rect">
            <a:avLst/>
          </a:prstGeom>
          <a:solidFill>
            <a:srgbClr val="E8E8E3"/>
          </a:solidFill>
          <a:ln/>
        </p:spPr>
        <p:txBody>
          <a:bodyPr wrap="square" rtlCol="0" anchor="ctr"/>
          <a:lstStyle/>
          <a:p>
            <a:pPr indent="0" marL="0">
              <a:buNone/>
            </a:pPr>
            <a:endParaRPr lang="en-US" dirty="0"/>
          </a:p>
        </p:txBody>
      </p:sp>
      <p:sp>
        <p:nvSpPr>
          <p:cNvPr id="5" name="Shape 3"/>
          <p:cNvSpPr/>
          <p:nvPr/>
        </p:nvSpPr>
        <p:spPr>
          <a:xfrm>
            <a:off x="3398788" y="558701"/>
            <a:ext cx="0" cy="4584799"/>
          </a:xfrm>
          <a:prstGeom prst="line">
            <a:avLst/>
          </a:prstGeom>
          <a:noFill/>
          <a:ln w="9525">
            <a:solidFill>
              <a:srgbClr val="D4D4D0"/>
            </a:solidFill>
            <a:prstDash val="solid"/>
          </a:ln>
        </p:spPr>
      </p:sp>
      <p:sp>
        <p:nvSpPr>
          <p:cNvPr id="6" name="Text 4"/>
          <p:cNvSpPr/>
          <p:nvPr/>
        </p:nvSpPr>
        <p:spPr>
          <a:xfrm>
            <a:off x="406301" y="914251"/>
            <a:ext cx="2736309" cy="114300"/>
          </a:xfrm>
          <a:prstGeom prst="rect">
            <a:avLst/>
          </a:prstGeom>
          <a:noFill/>
          <a:ln/>
        </p:spPr>
        <p:txBody>
          <a:bodyPr wrap="square" lIns="0" tIns="0" rIns="0" bIns="0" rtlCol="0" anchor="t"/>
          <a:lstStyle/>
          <a:p>
            <a:pPr algn="l" indent="0" marL="0">
              <a:spcAft>
                <a:spcPts val="800"/>
              </a:spcAft>
              <a:buNone/>
            </a:pPr>
            <a:r>
              <a:rPr lang="en-US" sz="800" b="1" dirty="0">
                <a:solidFill>
                  <a:srgbClr val="AAAAAA"/>
                </a:solidFill>
                <a:latin typeface="Pretendard" pitchFamily="34" charset="0"/>
                <a:ea typeface="Pretendard" pitchFamily="34" charset="-122"/>
                <a:cs typeface="Pretendard" pitchFamily="34" charset="-120"/>
              </a:rPr>
              <a:t>AI가 5초 만에 쓴 소개</a:t>
            </a:r>
            <a:endParaRPr lang="en-US" sz="800" dirty="0"/>
          </a:p>
        </p:txBody>
      </p:sp>
      <p:sp>
        <p:nvSpPr>
          <p:cNvPr id="7" name="Text 5"/>
          <p:cNvSpPr/>
          <p:nvPr/>
        </p:nvSpPr>
        <p:spPr>
          <a:xfrm>
            <a:off x="406301" y="1130052"/>
            <a:ext cx="253901" cy="12650"/>
          </a:xfrm>
          <a:prstGeom prst="rect">
            <a:avLst/>
          </a:prstGeom>
          <a:solidFill>
            <a:srgbClr val="BBBBBB"/>
          </a:solidFill>
          <a:ln/>
        </p:spPr>
        <p:txBody>
          <a:bodyPr wrap="square" rtlCol="0" anchor="ctr"/>
          <a:lstStyle/>
          <a:p>
            <a:pPr indent="0" marL="0">
              <a:buNone/>
            </a:pPr>
            <a:endParaRPr lang="en-US" dirty="0"/>
          </a:p>
        </p:txBody>
      </p:sp>
      <p:sp>
        <p:nvSpPr>
          <p:cNvPr id="8" name="Text 6"/>
          <p:cNvSpPr/>
          <p:nvPr/>
        </p:nvSpPr>
        <p:spPr>
          <a:xfrm>
            <a:off x="406301" y="1345853"/>
            <a:ext cx="2736309" cy="281880"/>
          </a:xfrm>
          <a:prstGeom prst="rect">
            <a:avLst/>
          </a:prstGeom>
          <a:noFill/>
          <a:ln/>
        </p:spPr>
        <p:txBody>
          <a:bodyPr wrap="square" lIns="0" tIns="0" rIns="0" bIns="0" rtlCol="0" anchor="t"/>
          <a:lstStyle/>
          <a:p>
            <a:pPr algn="l" indent="0" marL="0">
              <a:lnSpc>
                <a:spcPts val="2220"/>
              </a:lnSpc>
              <a:buNone/>
            </a:pPr>
            <a:r>
              <a:rPr lang="en-US" sz="1200" dirty="0">
                <a:solidFill>
                  <a:srgbClr val="999999"/>
                </a:solidFill>
                <a:latin typeface="Pretendard" pitchFamily="34" charset="0"/>
                <a:ea typeface="Pretendard" pitchFamily="34" charset="-122"/>
                <a:cs typeface="Pretendard" pitchFamily="34" charset="-120"/>
              </a:rPr>
              <a:t>주거, 상업 공간 인테리어 합니다.</a:t>
            </a:r>
            <a:endParaRPr lang="en-US" sz="1200" dirty="0"/>
          </a:p>
        </p:txBody>
      </p:sp>
      <p:sp>
        <p:nvSpPr>
          <p:cNvPr id="9" name="Text 7"/>
          <p:cNvSpPr/>
          <p:nvPr/>
        </p:nvSpPr>
        <p:spPr>
          <a:xfrm>
            <a:off x="406301" y="1627733"/>
            <a:ext cx="2736309" cy="281880"/>
          </a:xfrm>
          <a:prstGeom prst="rect">
            <a:avLst/>
          </a:prstGeom>
          <a:noFill/>
          <a:ln/>
        </p:spPr>
        <p:txBody>
          <a:bodyPr wrap="square" lIns="0" tIns="0" rIns="0" bIns="0" rtlCol="0" anchor="t"/>
          <a:lstStyle/>
          <a:p>
            <a:pPr algn="l" indent="0" marL="0">
              <a:lnSpc>
                <a:spcPts val="2220"/>
              </a:lnSpc>
              <a:buNone/>
            </a:pPr>
            <a:r>
              <a:rPr lang="en-US" sz="1200" dirty="0">
                <a:solidFill>
                  <a:srgbClr val="999999"/>
                </a:solidFill>
                <a:latin typeface="Pretendard" pitchFamily="34" charset="0"/>
                <a:ea typeface="Pretendard" pitchFamily="34" charset="-122"/>
                <a:cs typeface="Pretendard" pitchFamily="34" charset="-120"/>
              </a:rPr>
              <a:t>리모델링 필요하신 분 소개해주세요.</a:t>
            </a:r>
            <a:endParaRPr lang="en-US" sz="1200" dirty="0"/>
          </a:p>
        </p:txBody>
      </p:sp>
      <p:sp>
        <p:nvSpPr>
          <p:cNvPr id="10" name="Text 8"/>
          <p:cNvSpPr/>
          <p:nvPr/>
        </p:nvSpPr>
        <p:spPr>
          <a:xfrm>
            <a:off x="3403550" y="558701"/>
            <a:ext cx="5740450" cy="4584799"/>
          </a:xfrm>
          <a:prstGeom prst="rect">
            <a:avLst/>
          </a:prstGeom>
          <a:solidFill>
            <a:srgbClr val="F5F5F0"/>
          </a:solidFill>
          <a:ln/>
        </p:spPr>
        <p:txBody>
          <a:bodyPr wrap="square" rtlCol="0" anchor="ctr"/>
          <a:lstStyle/>
          <a:p>
            <a:pPr indent="0" marL="0">
              <a:buNone/>
            </a:pPr>
            <a:endParaRPr lang="en-US" dirty="0"/>
          </a:p>
        </p:txBody>
      </p:sp>
      <p:sp>
        <p:nvSpPr>
          <p:cNvPr id="11" name="Shape 9"/>
          <p:cNvSpPr/>
          <p:nvPr/>
        </p:nvSpPr>
        <p:spPr>
          <a:xfrm>
            <a:off x="3422600" y="558701"/>
            <a:ext cx="0" cy="4584799"/>
          </a:xfrm>
          <a:prstGeom prst="line">
            <a:avLst/>
          </a:prstGeom>
          <a:noFill/>
          <a:ln w="38100">
            <a:solidFill>
              <a:srgbClr val="1A1A1A"/>
            </a:solidFill>
            <a:prstDash val="solid"/>
          </a:ln>
        </p:spPr>
      </p:sp>
      <p:sp>
        <p:nvSpPr>
          <p:cNvPr id="12" name="Text 10"/>
          <p:cNvSpPr/>
          <p:nvPr/>
        </p:nvSpPr>
        <p:spPr>
          <a:xfrm>
            <a:off x="3949601" y="2092375"/>
            <a:ext cx="4967636" cy="114300"/>
          </a:xfrm>
          <a:prstGeom prst="rect">
            <a:avLst/>
          </a:prstGeom>
          <a:noFill/>
          <a:ln/>
        </p:spPr>
        <p:txBody>
          <a:bodyPr wrap="square" lIns="0" tIns="0" rIns="0" bIns="0" rtlCol="0" anchor="t"/>
          <a:lstStyle/>
          <a:p>
            <a:pPr algn="l" indent="0" marL="0">
              <a:spcAft>
                <a:spcPts val="800"/>
              </a:spcAft>
              <a:buNone/>
            </a:pPr>
            <a:r>
              <a:rPr lang="en-US" sz="800" b="1" dirty="0">
                <a:solidFill>
                  <a:srgbClr val="1A1A1A"/>
                </a:solidFill>
                <a:latin typeface="Pretendard" pitchFamily="34" charset="0"/>
                <a:ea typeface="Pretendard" pitchFamily="34" charset="-122"/>
                <a:cs typeface="Pretendard" pitchFamily="34" charset="-120"/>
              </a:rPr>
              <a:t>내 판단력이 담긴 소개</a:t>
            </a:r>
            <a:endParaRPr lang="en-US" sz="800" dirty="0"/>
          </a:p>
        </p:txBody>
      </p:sp>
      <p:sp>
        <p:nvSpPr>
          <p:cNvPr id="13" name="Text 11"/>
          <p:cNvSpPr/>
          <p:nvPr/>
        </p:nvSpPr>
        <p:spPr>
          <a:xfrm>
            <a:off x="3949601" y="2308175"/>
            <a:ext cx="355550" cy="25301"/>
          </a:xfrm>
          <a:prstGeom prst="rect">
            <a:avLst/>
          </a:prstGeom>
          <a:solidFill>
            <a:srgbClr val="1A1A1A"/>
          </a:solidFill>
          <a:ln/>
        </p:spPr>
        <p:txBody>
          <a:bodyPr wrap="square" rtlCol="0" anchor="ctr"/>
          <a:lstStyle/>
          <a:p>
            <a:pPr indent="0" marL="0">
              <a:buNone/>
            </a:pPr>
            <a:endParaRPr lang="en-US" dirty="0"/>
          </a:p>
        </p:txBody>
      </p:sp>
      <p:sp>
        <p:nvSpPr>
          <p:cNvPr id="14" name="Text 12"/>
          <p:cNvSpPr/>
          <p:nvPr/>
        </p:nvSpPr>
        <p:spPr>
          <a:xfrm>
            <a:off x="3949601" y="2536627"/>
            <a:ext cx="4967636" cy="323850"/>
          </a:xfrm>
          <a:prstGeom prst="rect">
            <a:avLst/>
          </a:prstGeom>
          <a:noFill/>
          <a:ln/>
        </p:spPr>
        <p:txBody>
          <a:bodyPr wrap="square" lIns="0" tIns="0" rIns="0" bIns="0" rtlCol="0" anchor="t"/>
          <a:lstStyle/>
          <a:p>
            <a:pPr algn="l" indent="0" marL="0">
              <a:lnSpc>
                <a:spcPts val="2550"/>
              </a:lnSpc>
              <a:buNone/>
            </a:pPr>
            <a:r>
              <a:rPr lang="en-US" sz="1500" b="1" dirty="0">
                <a:solidFill>
                  <a:srgbClr val="1A1A1A"/>
                </a:solidFill>
                <a:latin typeface="Pretendard" pitchFamily="34" charset="0"/>
                <a:ea typeface="Pretendard" pitchFamily="34" charset="-122"/>
                <a:cs typeface="Pretendard" pitchFamily="34" charset="-120"/>
              </a:rPr>
              <a:t>도면 보고 3분 안에</a:t>
            </a:r>
            <a:endParaRPr lang="en-US" sz="1500" dirty="0"/>
          </a:p>
        </p:txBody>
      </p:sp>
      <p:sp>
        <p:nvSpPr>
          <p:cNvPr id="15" name="Text 13"/>
          <p:cNvSpPr/>
          <p:nvPr/>
        </p:nvSpPr>
        <p:spPr>
          <a:xfrm>
            <a:off x="3949601" y="2911227"/>
            <a:ext cx="4967636" cy="323850"/>
          </a:xfrm>
          <a:prstGeom prst="rect">
            <a:avLst/>
          </a:prstGeom>
          <a:noFill/>
          <a:ln/>
        </p:spPr>
        <p:txBody>
          <a:bodyPr wrap="square" lIns="0" tIns="0" rIns="0" bIns="0" rtlCol="0" anchor="t"/>
          <a:lstStyle/>
          <a:p>
            <a:pPr algn="l" indent="0" marL="0">
              <a:lnSpc>
                <a:spcPts val="2550"/>
              </a:lnSpc>
              <a:buNone/>
            </a:pPr>
            <a:r>
              <a:rPr lang="en-US" sz="1500" b="1" dirty="0">
                <a:solidFill>
                  <a:srgbClr val="1A1A1A"/>
                </a:solidFill>
                <a:latin typeface="Pretendard" pitchFamily="34" charset="0"/>
                <a:ea typeface="Pretendard" pitchFamily="34" charset="-122"/>
                <a:cs typeface="Pretendard" pitchFamily="34" charset="-120"/>
              </a:rPr>
              <a:t>'여기 건드리면 큰일 납니다'를 찾아냅니다.</a:t>
            </a:r>
            <a:endParaRPr lang="en-US" sz="1500" dirty="0"/>
          </a:p>
        </p:txBody>
      </p:sp>
      <p:sp>
        <p:nvSpPr>
          <p:cNvPr id="16" name="Text 14"/>
          <p:cNvSpPr/>
          <p:nvPr/>
        </p:nvSpPr>
        <p:spPr>
          <a:xfrm>
            <a:off x="3949601" y="3285827"/>
            <a:ext cx="4967636" cy="323850"/>
          </a:xfrm>
          <a:prstGeom prst="rect">
            <a:avLst/>
          </a:prstGeom>
          <a:noFill/>
          <a:ln/>
        </p:spPr>
        <p:txBody>
          <a:bodyPr wrap="square" lIns="0" tIns="0" rIns="0" bIns="0" rtlCol="0" anchor="t"/>
          <a:lstStyle/>
          <a:p>
            <a:pPr algn="l" indent="0" marL="0">
              <a:lnSpc>
                <a:spcPts val="2550"/>
              </a:lnSpc>
              <a:buNone/>
            </a:pPr>
            <a:r>
              <a:rPr lang="en-US" sz="1500" b="1" dirty="0">
                <a:solidFill>
                  <a:srgbClr val="1A1A1A"/>
                </a:solidFill>
                <a:latin typeface="Pretendard" pitchFamily="34" charset="0"/>
                <a:ea typeface="Pretendard" pitchFamily="34" charset="-122"/>
                <a:cs typeface="Pretendard" pitchFamily="34" charset="-120"/>
              </a:rPr>
              <a:t>2호점 내시는 프랜차이즈 사장님 소개해주세요.</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0"/>
        </a:solidFill>
      </p:bgPr>
    </p:bg>
    <p:spTree>
      <p:nvGrpSpPr>
        <p:cNvPr id="1" name=""/>
        <p:cNvGrpSpPr/>
        <p:nvPr/>
      </p:nvGrpSpPr>
      <p:grpSpPr>
        <a:xfrm>
          <a:off x="0" y="0"/>
          <a:ext cx="0" cy="0"/>
          <a:chOff x="0" y="0"/>
          <a:chExt cx="0" cy="0"/>
        </a:xfrm>
      </p:grpSpPr>
      <p:sp>
        <p:nvSpPr>
          <p:cNvPr id="2" name="Text 0"/>
          <p:cNvSpPr/>
          <p:nvPr/>
        </p:nvSpPr>
        <p:spPr>
          <a:xfrm>
            <a:off x="914400" y="558701"/>
            <a:ext cx="7754112" cy="114300"/>
          </a:xfrm>
          <a:prstGeom prst="rect">
            <a:avLst/>
          </a:prstGeom>
          <a:noFill/>
          <a:ln/>
        </p:spPr>
        <p:txBody>
          <a:bodyPr wrap="square" lIns="0" tIns="0" rIns="0" bIns="0" rtlCol="0" anchor="t"/>
          <a:lstStyle/>
          <a:p>
            <a:pPr algn="l" indent="0" marL="0">
              <a:spcAft>
                <a:spcPts val="1200"/>
              </a:spcAft>
              <a:buNone/>
            </a:pPr>
            <a:r>
              <a:rPr lang="en-US" sz="800" b="1" dirty="0">
                <a:solidFill>
                  <a:srgbClr val="999999"/>
                </a:solidFill>
                <a:latin typeface="Pretendard" pitchFamily="34" charset="0"/>
                <a:ea typeface="Pretendard" pitchFamily="34" charset="-122"/>
                <a:cs typeface="Pretendard" pitchFamily="34" charset="-120"/>
              </a:rPr>
              <a:t>대체 불가능한 나만의 Skills</a:t>
            </a:r>
            <a:endParaRPr lang="en-US" sz="800" dirty="0"/>
          </a:p>
        </p:txBody>
      </p:sp>
      <p:sp>
        <p:nvSpPr>
          <p:cNvPr id="3" name="Text 1"/>
          <p:cNvSpPr/>
          <p:nvPr/>
        </p:nvSpPr>
        <p:spPr>
          <a:xfrm>
            <a:off x="914400" y="825401"/>
            <a:ext cx="1054926" cy="209550"/>
          </a:xfrm>
          <a:prstGeom prst="rect">
            <a:avLst/>
          </a:prstGeom>
          <a:noFill/>
          <a:ln/>
        </p:spPr>
        <p:txBody>
          <a:bodyPr wrap="square" lIns="0" tIns="0" rIns="0" bIns="0" rtlCol="0" anchor="t"/>
          <a:lstStyle/>
          <a:p>
            <a:pPr algn="l" indent="0" marL="0">
              <a:buNone/>
            </a:pPr>
            <a:r>
              <a:rPr lang="en-US" sz="1400" dirty="0">
                <a:solidFill>
                  <a:srgbClr val="1A1A1A"/>
                </a:solidFill>
                <a:latin typeface="Pretendard" pitchFamily="34" charset="0"/>
                <a:ea typeface="Pretendard" pitchFamily="34" charset="-122"/>
                <a:cs typeface="Pretendard" pitchFamily="34" charset="-120"/>
              </a:rPr>
              <a:t>내가 읽는 맥락</a:t>
            </a:r>
            <a:endParaRPr lang="en-US" sz="1400" dirty="0"/>
          </a:p>
        </p:txBody>
      </p:sp>
      <p:sp>
        <p:nvSpPr>
          <p:cNvPr id="4" name="Text 2"/>
          <p:cNvSpPr/>
          <p:nvPr/>
        </p:nvSpPr>
        <p:spPr>
          <a:xfrm>
            <a:off x="1909614" y="825401"/>
            <a:ext cx="372466" cy="209550"/>
          </a:xfrm>
          <a:prstGeom prst="rect">
            <a:avLst/>
          </a:prstGeom>
          <a:noFill/>
          <a:ln/>
        </p:spPr>
        <p:txBody>
          <a:bodyPr wrap="square" lIns="152400" tIns="0" rIns="152400" bIns="0" rtlCol="0" anchor="t"/>
          <a:lstStyle/>
          <a:p>
            <a:pPr algn="l" indent="0" marL="0">
              <a:buNone/>
            </a:pPr>
            <a:r>
              <a:rPr lang="en-US" sz="1400" dirty="0">
                <a:solidFill>
                  <a:srgbClr val="CCCCCC"/>
                </a:solidFill>
                <a:latin typeface="Pretendard" pitchFamily="34" charset="0"/>
                <a:ea typeface="Pretendard" pitchFamily="34" charset="-122"/>
                <a:cs typeface="Pretendard" pitchFamily="34" charset="-120"/>
              </a:rPr>
              <a:t>·</a:t>
            </a:r>
            <a:endParaRPr lang="en-US" sz="1400" dirty="0"/>
          </a:p>
        </p:txBody>
      </p:sp>
      <p:sp>
        <p:nvSpPr>
          <p:cNvPr id="5" name="Text 3"/>
          <p:cNvSpPr/>
          <p:nvPr/>
        </p:nvSpPr>
        <p:spPr>
          <a:xfrm>
            <a:off x="2260997" y="825401"/>
            <a:ext cx="1538139" cy="209550"/>
          </a:xfrm>
          <a:prstGeom prst="rect">
            <a:avLst/>
          </a:prstGeom>
          <a:noFill/>
          <a:ln/>
        </p:spPr>
        <p:txBody>
          <a:bodyPr wrap="square" lIns="0" tIns="0" rIns="0" bIns="0" rtlCol="0" anchor="t"/>
          <a:lstStyle/>
          <a:p>
            <a:pPr algn="l" indent="0" marL="0">
              <a:buNone/>
            </a:pPr>
            <a:r>
              <a:rPr lang="en-US" sz="1400" dirty="0">
                <a:solidFill>
                  <a:srgbClr val="1A1A1A"/>
                </a:solidFill>
                <a:latin typeface="Pretendard" pitchFamily="34" charset="0"/>
                <a:ea typeface="Pretendard" pitchFamily="34" charset="-122"/>
                <a:cs typeface="Pretendard" pitchFamily="34" charset="-120"/>
              </a:rPr>
              <a:t>내가 감수하는 리스크</a:t>
            </a:r>
            <a:endParaRPr lang="en-US" sz="1400" dirty="0"/>
          </a:p>
        </p:txBody>
      </p:sp>
      <p:sp>
        <p:nvSpPr>
          <p:cNvPr id="6" name="Text 4"/>
          <p:cNvSpPr/>
          <p:nvPr/>
        </p:nvSpPr>
        <p:spPr>
          <a:xfrm>
            <a:off x="3712071" y="825401"/>
            <a:ext cx="372466" cy="209550"/>
          </a:xfrm>
          <a:prstGeom prst="rect">
            <a:avLst/>
          </a:prstGeom>
          <a:noFill/>
          <a:ln/>
        </p:spPr>
        <p:txBody>
          <a:bodyPr wrap="square" lIns="152400" tIns="0" rIns="152400" bIns="0" rtlCol="0" anchor="t"/>
          <a:lstStyle/>
          <a:p>
            <a:pPr algn="l" indent="0" marL="0">
              <a:buNone/>
            </a:pPr>
            <a:r>
              <a:rPr lang="en-US" sz="1400" dirty="0">
                <a:solidFill>
                  <a:srgbClr val="CCCCCC"/>
                </a:solidFill>
                <a:latin typeface="Pretendard" pitchFamily="34" charset="0"/>
                <a:ea typeface="Pretendard" pitchFamily="34" charset="-122"/>
                <a:cs typeface="Pretendard" pitchFamily="34" charset="-120"/>
              </a:rPr>
              <a:t>·</a:t>
            </a:r>
            <a:endParaRPr lang="en-US" sz="1400" dirty="0"/>
          </a:p>
        </p:txBody>
      </p:sp>
      <p:sp>
        <p:nvSpPr>
          <p:cNvPr id="7" name="Text 5"/>
          <p:cNvSpPr/>
          <p:nvPr/>
        </p:nvSpPr>
        <p:spPr>
          <a:xfrm>
            <a:off x="4063454" y="825401"/>
            <a:ext cx="1215997" cy="209550"/>
          </a:xfrm>
          <a:prstGeom prst="rect">
            <a:avLst/>
          </a:prstGeom>
          <a:noFill/>
          <a:ln/>
        </p:spPr>
        <p:txBody>
          <a:bodyPr wrap="square" lIns="0" tIns="0" rIns="0" bIns="0" rtlCol="0" anchor="t"/>
          <a:lstStyle/>
          <a:p>
            <a:pPr algn="l" indent="0" marL="0">
              <a:buNone/>
            </a:pPr>
            <a:r>
              <a:rPr lang="en-US" sz="1400" dirty="0">
                <a:solidFill>
                  <a:srgbClr val="1A1A1A"/>
                </a:solidFill>
                <a:latin typeface="Pretendard" pitchFamily="34" charset="0"/>
                <a:ea typeface="Pretendard" pitchFamily="34" charset="-122"/>
                <a:cs typeface="Pretendard" pitchFamily="34" charset="-120"/>
              </a:rPr>
              <a:t>내가 버리는 것들</a:t>
            </a:r>
            <a:endParaRPr lang="en-US" sz="1400" dirty="0"/>
          </a:p>
        </p:txBody>
      </p:sp>
      <p:sp>
        <p:nvSpPr>
          <p:cNvPr id="8" name="Text 6"/>
          <p:cNvSpPr/>
          <p:nvPr/>
        </p:nvSpPr>
        <p:spPr>
          <a:xfrm>
            <a:off x="914400" y="1917204"/>
            <a:ext cx="7315200" cy="12650"/>
          </a:xfrm>
          <a:prstGeom prst="rect">
            <a:avLst/>
          </a:prstGeom>
          <a:solidFill>
            <a:srgbClr val="D4D4D0"/>
          </a:solidFill>
          <a:ln/>
        </p:spPr>
        <p:txBody>
          <a:bodyPr wrap="square" rtlCol="0" anchor="ctr"/>
          <a:lstStyle/>
          <a:p>
            <a:pPr indent="0" marL="0">
              <a:buNone/>
            </a:pPr>
            <a:endParaRPr lang="en-US" dirty="0"/>
          </a:p>
        </p:txBody>
      </p:sp>
      <p:sp>
        <p:nvSpPr>
          <p:cNvPr id="9" name="Text 7"/>
          <p:cNvSpPr/>
          <p:nvPr/>
        </p:nvSpPr>
        <p:spPr>
          <a:xfrm>
            <a:off x="914400" y="2812107"/>
            <a:ext cx="1062038" cy="215801"/>
          </a:xfrm>
          <a:prstGeom prst="rect">
            <a:avLst/>
          </a:prstGeom>
          <a:solidFill>
            <a:srgbClr val="1A1A1A"/>
          </a:solidFill>
          <a:ln/>
        </p:spPr>
        <p:txBody>
          <a:bodyPr wrap="square" rtlCol="0" anchor="ctr"/>
          <a:lstStyle/>
          <a:p>
            <a:pPr indent="0" marL="0">
              <a:buNone/>
            </a:pPr>
            <a:endParaRPr lang="en-US" dirty="0"/>
          </a:p>
        </p:txBody>
      </p:sp>
      <p:sp>
        <p:nvSpPr>
          <p:cNvPr id="10" name="Text 8"/>
          <p:cNvSpPr/>
          <p:nvPr/>
        </p:nvSpPr>
        <p:spPr>
          <a:xfrm>
            <a:off x="1066800" y="2862858"/>
            <a:ext cx="802672" cy="114300"/>
          </a:xfrm>
          <a:prstGeom prst="rect">
            <a:avLst/>
          </a:prstGeom>
          <a:noFill/>
          <a:ln/>
        </p:spPr>
        <p:txBody>
          <a:bodyPr wrap="square" lIns="0" tIns="0" rIns="0" bIns="0" rtlCol="0" anchor="t"/>
          <a:lstStyle/>
          <a:p>
            <a:pPr algn="l" indent="0" marL="0">
              <a:buNone/>
            </a:pPr>
            <a:r>
              <a:rPr lang="en-US" sz="800" b="1" dirty="0">
                <a:solidFill>
                  <a:srgbClr val="FFFFFF"/>
                </a:solidFill>
                <a:latin typeface="Pretendard" pitchFamily="34" charset="0"/>
                <a:ea typeface="Pretendard" pitchFamily="34" charset="-122"/>
                <a:cs typeface="Pretendard" pitchFamily="34" charset="-120"/>
              </a:rPr>
              <a:t>HOMEWORK</a:t>
            </a:r>
            <a:endParaRPr lang="en-US" sz="800" dirty="0"/>
          </a:p>
        </p:txBody>
      </p:sp>
      <p:sp>
        <p:nvSpPr>
          <p:cNvPr id="11" name="Text 9"/>
          <p:cNvSpPr/>
          <p:nvPr/>
        </p:nvSpPr>
        <p:spPr>
          <a:xfrm>
            <a:off x="914400" y="3231059"/>
            <a:ext cx="7754112" cy="511820"/>
          </a:xfrm>
          <a:prstGeom prst="rect">
            <a:avLst/>
          </a:prstGeom>
          <a:noFill/>
          <a:ln/>
        </p:spPr>
        <p:txBody>
          <a:bodyPr wrap="square" lIns="0" tIns="0" rIns="0" bIns="0" rtlCol="0" anchor="t"/>
          <a:lstStyle/>
          <a:p>
            <a:pPr algn="l" indent="0" marL="0">
              <a:lnSpc>
                <a:spcPts val="4030"/>
              </a:lnSpc>
              <a:buNone/>
            </a:pPr>
            <a:r>
              <a:rPr lang="en-US" sz="2600" b="1" dirty="0">
                <a:solidFill>
                  <a:srgbClr val="1A1A1A"/>
                </a:solidFill>
                <a:latin typeface="Pretendard" pitchFamily="34" charset="0"/>
                <a:ea typeface="Pretendard" pitchFamily="34" charset="-122"/>
                <a:cs typeface="Pretendard" pitchFamily="34" charset="-120"/>
              </a:rPr>
              <a:t>"저는 [___]를 하는 사람이 아니라,</a:t>
            </a:r>
            <a:endParaRPr lang="en-US" sz="2600" dirty="0"/>
          </a:p>
        </p:txBody>
      </p:sp>
      <p:sp>
        <p:nvSpPr>
          <p:cNvPr id="12" name="Text 10"/>
          <p:cNvSpPr/>
          <p:nvPr/>
        </p:nvSpPr>
        <p:spPr>
          <a:xfrm>
            <a:off x="914400" y="3742879"/>
            <a:ext cx="7754112" cy="511820"/>
          </a:xfrm>
          <a:prstGeom prst="rect">
            <a:avLst/>
          </a:prstGeom>
          <a:noFill/>
          <a:ln/>
        </p:spPr>
        <p:txBody>
          <a:bodyPr wrap="square" lIns="0" tIns="0" rIns="0" bIns="0" rtlCol="0" anchor="t"/>
          <a:lstStyle/>
          <a:p>
            <a:pPr algn="l" indent="0" marL="0">
              <a:lnSpc>
                <a:spcPts val="4030"/>
              </a:lnSpc>
              <a:buNone/>
            </a:pPr>
            <a:r>
              <a:rPr lang="en-US" sz="2600" b="1" dirty="0">
                <a:solidFill>
                  <a:srgbClr val="1A1A1A"/>
                </a:solidFill>
                <a:latin typeface="Pretendard" pitchFamily="34" charset="0"/>
                <a:ea typeface="Pretendard" pitchFamily="34" charset="-122"/>
                <a:cs typeface="Pretendard" pitchFamily="34" charset="-120"/>
              </a:rPr>
              <a:t>[___]를 판단하는 사람입니다."</a:t>
            </a:r>
            <a:endParaRPr lang="en-US" sz="2600" dirty="0"/>
          </a:p>
        </p:txBody>
      </p:sp>
      <p:sp>
        <p:nvSpPr>
          <p:cNvPr id="13" name="Text 11"/>
          <p:cNvSpPr/>
          <p:nvPr/>
        </p:nvSpPr>
        <p:spPr>
          <a:xfrm>
            <a:off x="914400" y="4432399"/>
            <a:ext cx="7754112" cy="152400"/>
          </a:xfrm>
          <a:prstGeom prst="rect">
            <a:avLst/>
          </a:prstGeom>
          <a:noFill/>
          <a:ln/>
        </p:spPr>
        <p:txBody>
          <a:bodyPr wrap="square" lIns="0" tIns="0" rIns="0" bIns="0" rtlCol="0" anchor="t"/>
          <a:lstStyle/>
          <a:p>
            <a:pPr algn="l" indent="0" marL="0">
              <a:spcBef>
                <a:spcPts val="1400"/>
              </a:spcBef>
              <a:buNone/>
            </a:pPr>
            <a:r>
              <a:rPr lang="en-US" sz="1000" dirty="0">
                <a:solidFill>
                  <a:srgbClr val="999999"/>
                </a:solidFill>
                <a:latin typeface="Pretendard" pitchFamily="34" charset="0"/>
                <a:ea typeface="Pretendard" pitchFamily="34" charset="-122"/>
                <a:cs typeface="Pretendard" pitchFamily="34" charset="-120"/>
              </a:rPr>
              <a:t>다음 주 60초 소개의 첫 문장으로 써보세요.</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AI가 대체할 수 없는 내 Skills 찾기</dc:title>
  <dc:subject>10분 강의 - 신뢰의 희소성</dc:subject>
  <dc:creator>BNI Education</dc:creator>
  <cp:lastModifiedBy>BNI Education</cp:lastModifiedBy>
  <cp:revision>1</cp:revision>
  <dcterms:created xsi:type="dcterms:W3CDTF">2026-03-24T21:02:00Z</dcterms:created>
  <dcterms:modified xsi:type="dcterms:W3CDTF">2026-03-24T21:02:00Z</dcterms:modified>
</cp:coreProperties>
</file>