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(강의 시작 전 타이틀 슬라이드. 청중이 착석하면서 볼 수 있도록 미리 띄워놓기.)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여러분, 오픈클로 들어보셨죠? 한 달 만에 GitHub 스타 20만 개를 찍은 AI 에이전트입니다. 카카오, 네이버, 당근마켓이 보안 문제로 사내 사용을 금지시켰을 정도로 임팩트가 큰 도구입니다. 카톡으로 메시지 하나 보내면, AI가 알아서 컴퓨터를 조작합니다. PPT 만들고, 이메일 보내고, 견적서까지 작성합니다. 사람이 없어도요.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(2초 침묵 후, 천천히) 그런데 이 AI가 못하는 게 딱 하나 있습니다. (슬라이드 전환) 신뢰. '이 사람을 믿겠다'는 결정은 누가 내립니까? AI가요? 아닙니다. 여전히 사람입니다. 오늘 저는 이 한 가지 이야기를 하려고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이제 숫자로 보겠습니다. AI가 모든 것을 싸고 빠르게 만드는 시대에, 유일하게 값이 올라가고 있는 것이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보겠습니다. 전문가의 64%가 AI가 만들어낸 분석보다 자신의 인간 네트워크에서 얻은 인사이트를 더 신뢰한다고 응답했습니다. 영업에서도 마찬가지입니다. 관계 기반 추천의 전환율은 15~25%인데, 콜드콜은 고작 2~3%입니다. 4배 차이. 지인의 추천을 신뢰하는 비율은 92%인데, 온라인 광고는 33%에 불과합니다. AI가 정보를 무료로 만들수록, '누가 말했느냐'의 가치, 즉 신뢰의 가격은 올라가고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링크드인이 3,000명 이상을 대상으로 조사한 결과, 일자리의 85%가 네트워킹을 통해 채워집니다. 추천 지원자는 전체의 7%에 불과하지만, 실제 채용의 40%를 차지합니다. 더 아이러니한 건, AI 채용 필터가 강화될수록 이 수치가 더 올라간다는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여러분이 매주 하고 계신 그 추천 한 건. 그게 뭔지 다시 생각해보겠습니다. BNI 회원들이 지난 12개월간 추천을 통해 만들어낸 수익이 약 35조원입니다. 1,740만 건의 추천이 오갔습니다. 추천 한 건의 의미는, 내 평판을 걸고 누군가를 보증한다는 뜻입니다. 이것은 어떤 AI 알고리즘도 생성할 수 없는, 인간 고유의 행위입니다.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그러면 우리가 오늘부터 할 수 있는 것은 무엇인가.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AI에게 시간을 뺏기는 것이 아니라, AI가 절약해준 시간을 사람에게 투자하세요. 1-1-1 네트워킹 법칙입니다. 매주 1명에게 먼저 연락하세요. 매주 1시간을 만남에 투자하세요. 만남마다 상대에게 1가지 도움을 먼저 제공하세요. 1년이면 52명, 3년이면 150명입니다. 던바의 수, 즉 의미 있는 관계를 유지할 수 있는 상한이 150명입니다. 3년이면 당신의 관계 자본이 가득 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 강의가 끝나고 딱 한 가지만 해주십시오. 핸드폰을 꺼내서, 최근 3개월간 연락하지 못한 사람 한 명에게 메시지를 보내세요. 거창할 필요 없습니다. '요즘 어떻게 지내세요? 한번 뵙고 싶습니다.' 이 한 줄이면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(느리게, 무게 있게) AI시대에 가장 비싼 것은 신뢰입니다. 그리고 이 방에 있는 여러분이, 신뢰를 만드는 사람들입니다.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" y="609600"/>
            <a:ext cx="2199680" cy="288727"/>
          </a:xfrm>
          <a:prstGeom prst="roundRect">
            <a:avLst>
              <a:gd name="adj" fmla="val 87972"/>
            </a:avLst>
          </a:prstGeom>
          <a:noFill/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49077" y="682526"/>
            <a:ext cx="1934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BNI K-CHAPTER EDUCATION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57331" y="687288"/>
            <a:ext cx="1034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네트워킹 #2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1851" y="1601391"/>
            <a:ext cx="8131311" cy="75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대체할 수 없는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61851" y="2487662"/>
            <a:ext cx="8131311" cy="75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Skills 찾기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61851" y="3526334"/>
            <a:ext cx="609600" cy="38100"/>
          </a:xfrm>
          <a:prstGeom prst="roundRect">
            <a:avLst>
              <a:gd name="adj" fmla="val 6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4267349"/>
            <a:ext cx="8908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61851" y="4422874"/>
            <a:ext cx="8908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2026. 03. 24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08584" y="4267349"/>
            <a:ext cx="1437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008584" y="4422874"/>
            <a:ext cx="14371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10-Minute Education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31398" y="448329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08893"/>
            <a:ext cx="775411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AI한테 시키면 되겠다 하고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524744"/>
            <a:ext cx="775411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직원한테 줄 일을 안 준 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40595"/>
            <a:ext cx="775411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있으신 분?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086695"/>
            <a:ext cx="7315200" cy="1265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3454896"/>
            <a:ext cx="7754112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18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여러분의 고객도, 여러분한테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57327"/>
            <a:ext cx="7754112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18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똑같은 생각을 하고 있을 수 있습니다.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58701"/>
            <a:ext cx="38100" cy="177701"/>
          </a:xfrm>
          <a:prstGeom prst="roundRect">
            <a:avLst>
              <a:gd name="adj" fmla="val 6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9951" y="571351"/>
            <a:ext cx="4291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현황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0328" y="580876"/>
            <a:ext cx="1519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D4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pic>
        <p:nvPicPr>
          <p:cNvPr id="5" name="Image 0" descr="/Users/kimjimyoung/Documents/projects/bni-edu/ppt_team_agent/lectures/02_ai_skills/assets/claud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1985814"/>
            <a:ext cx="558701" cy="5587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96752" y="2036564"/>
            <a:ext cx="2090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96752" y="2227064"/>
            <a:ext cx="20904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Claude의 Skills 기능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0350" y="2798415"/>
            <a:ext cx="3601138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AI한테 우리 회사 업무 방식을 가르치면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0350" y="3155156"/>
            <a:ext cx="3601138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이메일, 제안서, PPT를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350" y="3511897"/>
            <a:ext cx="3601138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회사 스타일로 만들어준다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65600" y="1142702"/>
            <a:ext cx="12650" cy="3492847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086201" y="1926729"/>
            <a:ext cx="3397448" cy="91440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41752" y="2231529"/>
            <a:ext cx="28475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'3년차 직원처럼 알아서 일하는' 수준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86201" y="3145929"/>
            <a:ext cx="253901" cy="25301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86201" y="3272730"/>
            <a:ext cx="360129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경쟁사도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86201" y="3587502"/>
            <a:ext cx="360129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쓰고 있을 겁니다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595"/>
            <a:ext cx="775411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"기업들이 AI가 잘해서 사람을 자르는 게 아니라,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768376"/>
            <a:ext cx="775411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잘할 것 같아서 자르고 있다"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393156"/>
            <a:ext cx="77541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Harvard Business Review,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910632"/>
            <a:ext cx="7315200" cy="12650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3278832"/>
            <a:ext cx="775411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BNI 교육 대본도 써준다면...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64744"/>
            <a:ext cx="7754112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여기 서 있는 이유는?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58701"/>
            <a:ext cx="38100" cy="177701"/>
          </a:xfrm>
          <a:prstGeom prst="roundRect">
            <a:avLst>
              <a:gd name="adj" fmla="val 6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9951" y="571351"/>
            <a:ext cx="13810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Judgment Economy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2709" y="580876"/>
            <a:ext cx="149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D4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pic>
        <p:nvPicPr>
          <p:cNvPr id="5" name="Image 0" descr="/Users/kimjimyoung/Documents/projects/bni-edu/ppt_team_agent/lectures/02_ai_skills/assets/noti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2028676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9950" y="2171551"/>
            <a:ext cx="1416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 RESEARCH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0350" y="2739777"/>
            <a:ext cx="39286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컨설턴트가 들어간 회사의 매출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0350" y="2987427"/>
            <a:ext cx="3928643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2배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4874568" y="1091952"/>
            <a:ext cx="12650" cy="3543598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95168" y="1192262"/>
            <a:ext cx="3088481" cy="504825"/>
          </a:xfrm>
          <a:prstGeom prst="roundRect">
            <a:avLst>
              <a:gd name="adj" fmla="val 15094"/>
            </a:avLst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17853" y="1344662"/>
            <a:ext cx="2843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2514" y="1824038"/>
            <a:ext cx="3273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95168" y="2217688"/>
            <a:ext cx="3088481" cy="504825"/>
          </a:xfrm>
          <a:prstGeom prst="roundRect">
            <a:avLst>
              <a:gd name="adj" fmla="val 15094"/>
            </a:avLst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17853" y="2370088"/>
            <a:ext cx="2843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2514" y="2849463"/>
            <a:ext cx="3273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95168" y="3243114"/>
            <a:ext cx="3088481" cy="514350"/>
          </a:xfrm>
          <a:prstGeom prst="roundRect">
            <a:avLst>
              <a:gd name="adj" fmla="val 1481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517853" y="3395514"/>
            <a:ext cx="2843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2배 성장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95168" y="4016127"/>
            <a:ext cx="3088481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2514" y="4173289"/>
            <a:ext cx="32737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"판단력은 복리로 쌓인다"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02514" y="4382839"/>
            <a:ext cx="3273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Notion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660350"/>
            <a:ext cx="1674019" cy="288727"/>
          </a:xfrm>
          <a:prstGeom prst="roundRect">
            <a:avLst>
              <a:gd name="adj" fmla="val 17594"/>
            </a:avLst>
          </a:prstGeom>
          <a:noFill/>
          <a:ln w="9525">
            <a:solidFill>
              <a:srgbClr val="44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99976" y="733276"/>
            <a:ext cx="13775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2750" y="2087612"/>
            <a:ext cx="3994586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따라올 수 없는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50" y="2773263"/>
            <a:ext cx="3994586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판단력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12750" y="3662065"/>
            <a:ext cx="457200" cy="3810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90827" y="2138363"/>
            <a:ext cx="355550" cy="355550"/>
          </a:xfrm>
          <a:prstGeom prst="roundRect">
            <a:avLst>
              <a:gd name="adj" fmla="val 257179"/>
            </a:avLst>
          </a:prstGeom>
          <a:noFill/>
          <a:ln w="9525">
            <a:solidFill>
              <a:srgbClr val="44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3851" y="2235101"/>
            <a:ext cx="736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49528" y="2206526"/>
            <a:ext cx="12992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읽는 판단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90827" y="2697063"/>
            <a:ext cx="355550" cy="355550"/>
          </a:xfrm>
          <a:prstGeom prst="roundRect">
            <a:avLst>
              <a:gd name="adj" fmla="val 257179"/>
            </a:avLst>
          </a:prstGeom>
          <a:noFill/>
          <a:ln w="9525">
            <a:solidFill>
              <a:srgbClr val="44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24624" y="2793802"/>
            <a:ext cx="932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9528" y="2765227"/>
            <a:ext cx="18172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리스크를 감수하는 판단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90827" y="3255764"/>
            <a:ext cx="355550" cy="355550"/>
          </a:xfrm>
          <a:prstGeom prst="roundRect">
            <a:avLst>
              <a:gd name="adj" fmla="val 257179"/>
            </a:avLst>
          </a:prstGeom>
          <a:noFill/>
          <a:ln w="9525">
            <a:solidFill>
              <a:srgbClr val="44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22838" y="3352502"/>
            <a:ext cx="970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49528" y="3323927"/>
            <a:ext cx="9086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버리는 판단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1167557"/>
            <a:ext cx="861715" cy="269677"/>
          </a:xfrm>
          <a:prstGeom prst="roundRect">
            <a:avLst>
              <a:gd name="adj" fmla="val 1883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90451" y="1230957"/>
            <a:ext cx="5366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2750" y="1564184"/>
            <a:ext cx="79696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읽는 판단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750" y="2356693"/>
            <a:ext cx="7518499" cy="1028700"/>
          </a:xfrm>
          <a:prstGeom prst="rect">
            <a:avLst/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31800" y="2356693"/>
            <a:ext cx="0" cy="102870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5650" y="2559844"/>
            <a:ext cx="7283047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"올해 좀 힘들어요..." 라는 거래처 사장님의 말이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5650" y="2871043"/>
            <a:ext cx="7283047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세금 불만인지, 사업 정리 고민인지 알아채는 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750" y="3826669"/>
            <a:ext cx="253901" cy="1265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19051" y="3690193"/>
            <a:ext cx="41353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소주 한잔의 대화에서 나오는 맥락은 AI에게 없습니다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980182"/>
            <a:ext cx="877044" cy="269677"/>
          </a:xfrm>
          <a:prstGeom prst="roundRect">
            <a:avLst>
              <a:gd name="adj" fmla="val 1883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90451" y="1043583"/>
            <a:ext cx="5529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2750" y="1376809"/>
            <a:ext cx="79696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리스크를 감수하는 판단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750" y="2169319"/>
            <a:ext cx="7518499" cy="1028700"/>
          </a:xfrm>
          <a:prstGeom prst="rect">
            <a:avLst/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31800" y="2169319"/>
            <a:ext cx="0" cy="102870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5650" y="2372469"/>
            <a:ext cx="7283047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발주 중단을 추천받아도,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5650" y="2683669"/>
            <a:ext cx="7283047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"어려울 때 도와주면 갚을 사람"이라며 밀어붙이는 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750" y="3648819"/>
            <a:ext cx="253901" cy="1265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19051" y="3502819"/>
            <a:ext cx="30529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추천은 하지만 책임지지 않습니다.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9051" y="3858369"/>
            <a:ext cx="7538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 전화 받는 건 여러분이에요.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1048345"/>
            <a:ext cx="879872" cy="269677"/>
          </a:xfrm>
          <a:prstGeom prst="roundRect">
            <a:avLst>
              <a:gd name="adj" fmla="val 1883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90451" y="1111746"/>
            <a:ext cx="555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2750" y="1444972"/>
            <a:ext cx="79696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버리는 판단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750" y="2237482"/>
            <a:ext cx="7518499" cy="89252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12750" y="2242245"/>
            <a:ext cx="7518499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6487" y="2237482"/>
            <a:ext cx="0" cy="89252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750" y="3125242"/>
            <a:ext cx="7518499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1800" y="2237482"/>
            <a:ext cx="0" cy="892522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6401" y="2500908"/>
            <a:ext cx="716536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"사장님, 이건 안 하시는 게 맞습니다"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750" y="3580805"/>
            <a:ext cx="253901" cy="1265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19051" y="3434804"/>
            <a:ext cx="21544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'안 한다'고 말할 수 있는 것,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19051" y="3790355"/>
            <a:ext cx="7538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그것이 수수료의 진짜 근거입니다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07950"/>
            <a:ext cx="38100" cy="177701"/>
          </a:xfrm>
          <a:prstGeom prst="roundRect">
            <a:avLst>
              <a:gd name="adj" fmla="val 6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9951" y="520601"/>
            <a:ext cx="2035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BNI 60초 소개 — Before /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60866" y="530126"/>
            <a:ext cx="130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D4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0350" y="990451"/>
            <a:ext cx="3410099" cy="3645098"/>
          </a:xfrm>
          <a:prstGeom prst="roundRect">
            <a:avLst>
              <a:gd name="adj" fmla="val 2979"/>
            </a:avLst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5901" y="1295251"/>
            <a:ext cx="2860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5초 만에 쓴 소개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5901" y="1488877"/>
            <a:ext cx="304800" cy="25301"/>
          </a:xfrm>
          <a:prstGeom prst="roundRect">
            <a:avLst>
              <a:gd name="adj" fmla="val 50196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5901" y="1717328"/>
            <a:ext cx="286093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주거, 상업 공간 인테리어 합니다.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5901" y="2217539"/>
            <a:ext cx="286093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리모델링 필요하신 분 소개해주세요.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49812" y="2727275"/>
            <a:ext cx="2184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35451" y="990451"/>
            <a:ext cx="3448199" cy="3645098"/>
          </a:xfrm>
          <a:prstGeom prst="roundRect">
            <a:avLst>
              <a:gd name="adj" fmla="val 2946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10051" y="1314301"/>
            <a:ext cx="2860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판단력이 담긴 소개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10051" y="1507927"/>
            <a:ext cx="304800" cy="25301"/>
          </a:xfrm>
          <a:prstGeom prst="roundRect">
            <a:avLst>
              <a:gd name="adj" fmla="val 5019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10051" y="1736378"/>
            <a:ext cx="286093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도면 보고 3분 안에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10051" y="2236589"/>
            <a:ext cx="286093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'여기 건드리면 큰일 납니다'를 찾아냅니다.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10051" y="3033861"/>
            <a:ext cx="286093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2호점 내시는 프랜차이즈 사장님 소개해주세요.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609600"/>
            <a:ext cx="796960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불가능한 나만의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750" y="1290042"/>
            <a:ext cx="1344662" cy="368201"/>
          </a:xfrm>
          <a:prstGeom prst="roundRect">
            <a:avLst>
              <a:gd name="adj" fmla="val 68984"/>
            </a:avLst>
          </a:prstGeom>
          <a:noFill/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50875" y="1388418"/>
            <a:ext cx="9205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읽는 맥락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09813" y="1467743"/>
            <a:ext cx="203150" cy="12650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65363" y="1290042"/>
            <a:ext cx="1740098" cy="368201"/>
          </a:xfrm>
          <a:prstGeom prst="roundRect">
            <a:avLst>
              <a:gd name="adj" fmla="val 68984"/>
            </a:avLst>
          </a:prstGeom>
          <a:noFill/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03488" y="1388418"/>
            <a:ext cx="13396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감수하는 리스크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57861" y="1467743"/>
            <a:ext cx="203150" cy="12650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3412" y="1290042"/>
            <a:ext cx="1476524" cy="368201"/>
          </a:xfrm>
          <a:prstGeom prst="roundRect">
            <a:avLst>
              <a:gd name="adj" fmla="val 68984"/>
            </a:avLst>
          </a:prstGeom>
          <a:noFill/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51537" y="1388418"/>
            <a:ext cx="10602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버리는 것들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50" y="2053084"/>
            <a:ext cx="7518499" cy="12650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2460427"/>
            <a:ext cx="1020366" cy="215801"/>
          </a:xfrm>
          <a:prstGeom prst="roundRect">
            <a:avLst>
              <a:gd name="adj" fmla="val 2354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5150" y="2511177"/>
            <a:ext cx="758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12750" y="2879378"/>
            <a:ext cx="7518499" cy="1241822"/>
          </a:xfrm>
          <a:prstGeom prst="roundRect">
            <a:avLst>
              <a:gd name="adj" fmla="val 8182"/>
            </a:avLst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31800" y="2879378"/>
            <a:ext cx="0" cy="1241822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6401" y="3133279"/>
            <a:ext cx="7175456" cy="36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"저는 </a:t>
            </a:r>
            <a:pPr algn="l" indent="0" marL="0">
              <a:lnSpc>
                <a:spcPts val="2890"/>
              </a:lnSpc>
              <a:buNone/>
            </a:pPr>
            <a:r>
              <a:rPr lang="en-US" sz="1700" b="1" u="sng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[___]</a:t>
            </a:r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하는 사람이 아니라,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6401" y="3500289"/>
            <a:ext cx="7175456" cy="36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0"/>
              </a:lnSpc>
              <a:buNone/>
            </a:pPr>
            <a:r>
              <a:rPr lang="en-US" sz="1700" b="1" u="sng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[___]</a:t>
            </a:r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판단하는 사람입니다."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2750" y="4324350"/>
            <a:ext cx="79696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60초 소개의 첫 문장으로 써보세요.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AI가 대체할 수 없는 내 Skills 찾기</dc:title>
  <dc:subject>10분 강의 - 신뢰의 희소성</dc:subject>
  <dc:creator>BNI Education</dc:creator>
  <cp:lastModifiedBy>BNI Education</cp:lastModifiedBy>
  <cp:revision>1</cp:revision>
  <dcterms:created xsi:type="dcterms:W3CDTF">2026-03-24T13:01:02Z</dcterms:created>
  <dcterms:modified xsi:type="dcterms:W3CDTF">2026-03-24T13:01:02Z</dcterms:modified>
</cp:coreProperties>
</file>