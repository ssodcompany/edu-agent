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(강의 시작 전 타이틀 슬라이드. 청중이 착석하면서 볼 수 있도록 미리 띄워놓기.)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여러분, 오픈클로 들어보셨죠? 한 달 만에 GitHub 스타 20만 개를 찍은 AI 에이전트입니다. 카카오, 네이버, 당근마켓이 보안 문제로 사내 사용을 금지시켰을 정도로 임팩트가 큰 도구입니다. 카톡으로 메시지 하나 보내면, AI가 알아서 컴퓨터를 조작합니다. PPT 만들고, 이메일 보내고, 견적서까지 작성합니다. 사람이 없어도요.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(2초 침묵 후, 천천히) 그런데 이 AI가 못하는 게 딱 하나 있습니다. (슬라이드 전환) 신뢰. '이 사람을 믿겠다'는 결정은 누가 내립니까? AI가요? 아닙니다. 여전히 사람입니다. 오늘 저는 이 한 가지 이야기를 하려고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이제 숫자로 보겠습니다. AI가 모든 것을 싸고 빠르게 만드는 시대에, 유일하게 값이 올라가고 있는 것이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보겠습니다. 전문가의 64%가 AI가 만들어낸 분석보다 자신의 인간 네트워크에서 얻은 인사이트를 더 신뢰한다고 응답했습니다. 영업에서도 마찬가지입니다. 관계 기반 추천의 전환율은 15~25%인데, 콜드콜은 고작 2~3%입니다. 4배 차이. 지인의 추천을 신뢰하는 비율은 92%인데, 온라인 광고는 33%에 불과합니다. AI가 정보를 무료로 만들수록, '누가 말했느냐'의 가치, 즉 신뢰의 가격은 올라가고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링크드인이 3,000명 이상을 대상으로 조사한 결과, 일자리의 85%가 네트워킹을 통해 채워집니다. 추천 지원자는 전체의 7%에 불과하지만, 실제 채용의 40%를 차지합니다. 더 아이러니한 건, AI 채용 필터가 강화될수록 이 수치가 더 올라간다는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여러분이 매주 하고 계신 그 추천 한 건. 그게 뭔지 다시 생각해보겠습니다. BNI 회원들이 지난 12개월간 추천을 통해 만들어낸 수익이 약 35조원입니다. 1,740만 건의 추천이 오갔습니다. 추천 한 건의 의미는, 내 평판을 걸고 누군가를 보증한다는 뜻입니다. 이것은 어떤 AI 알고리즘도 생성할 수 없는, 인간 고유의 행위입니다.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그러면 우리가 오늘부터 할 수 있는 것은 무엇인가.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AI에게 시간을 뺏기는 것이 아니라, AI가 절약해준 시간을 사람에게 투자하세요. 1-1-1 네트워킹 법칙입니다. 매주 1명에게 먼저 연락하세요. 매주 1시간을 만남에 투자하세요. 만남마다 상대에게 1가지 도움을 먼저 제공하세요. 1년이면 52명, 3년이면 150명입니다. 던바의 수, 즉 의미 있는 관계를 유지할 수 있는 상한이 150명입니다. 3년이면 당신의 관계 자본이 가득 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 강의가 끝나고 딱 한 가지만 해주십시오. 핸드폰을 꺼내서, 최근 3개월간 연락하지 못한 사람 한 명에게 메시지를 보내세요. 거창할 필요 없습니다. '요즘 어떻게 지내세요? 한번 뵙고 싶습니다.' 이 한 줄이면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(느리게, 무게 있게) AI시대에 가장 비싼 것은 신뢰입니다. 그리고 이 방에 있는 여러분이, 신뢰를 만드는 사람들입니다.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35578" y="1495871"/>
            <a:ext cx="3272844" cy="105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60"/>
              </a:lnSpc>
              <a:spcAft>
                <a:spcPts val="1600"/>
              </a:spcAft>
              <a:buNone/>
            </a:pPr>
            <a:r>
              <a:rPr lang="en-US" sz="3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대체할 수 없는</a:t>
            </a:r>
            <a:endParaRPr lang="en-US" sz="3200" dirty="0"/>
          </a:p>
          <a:p>
            <a:pPr algn="ctr" indent="0" marL="0">
              <a:lnSpc>
                <a:spcPts val="4160"/>
              </a:lnSpc>
              <a:spcAft>
                <a:spcPts val="1600"/>
              </a:spcAft>
              <a:buNone/>
            </a:pPr>
            <a:r>
              <a:rPr lang="en-US" sz="3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Skills 찾기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91000" y="2755702"/>
            <a:ext cx="762000" cy="38100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52458" y="3047702"/>
            <a:ext cx="3239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BNI K-Chapter 교육 | AI 시대 네트워킹 #2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08039" y="3466654"/>
            <a:ext cx="9277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2026. 03. 24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1546" y="1644997"/>
            <a:ext cx="4280758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3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pPr algn="ctr" indent="0" marL="0">
              <a:lnSpc>
                <a:spcPts val="3300"/>
              </a:lnSpc>
              <a:spcAft>
                <a:spcPts val="3200"/>
              </a:spcAft>
              <a:buNone/>
            </a:pPr>
            <a:r>
              <a:rPr lang="en-US" sz="22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AI한테 시키면 되겠다</a:t>
            </a:r>
            <a:pPr algn="ctr" indent="0" marL="0">
              <a:lnSpc>
                <a:spcPts val="3300"/>
              </a:lnSpc>
              <a:spcAft>
                <a:spcPts val="3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하고</a:t>
            </a:r>
            <a:endParaRPr lang="en-US" sz="2200" dirty="0"/>
          </a:p>
          <a:p>
            <a:pPr algn="ctr" indent="0" marL="0">
              <a:lnSpc>
                <a:spcPts val="3300"/>
              </a:lnSpc>
              <a:spcAft>
                <a:spcPts val="3200"/>
              </a:spcAft>
              <a:buNone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직원한테 줄 일을 안 준 적 있으신 분?"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512945" y="2889200"/>
            <a:ext cx="4118110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여러분의 고객도,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여러분한테 똑같은 생각을 하고 있을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imjimyoung/Documents/projects/bni-edu/ppt_team_agent/lectures/02_ai_skills/assets/claud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47788"/>
            <a:ext cx="6096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514475"/>
            <a:ext cx="203791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Claude의 Skills 기능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9600" y="2211288"/>
            <a:ext cx="3813164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AI한테 우리 회사 업무 방식을 가르치면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9600" y="2568029"/>
            <a:ext cx="3813164" cy="561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이메일, 제안서, PPT를</a:t>
            </a:r>
            <a:endParaRPr lang="en-US" sz="1300" dirty="0"/>
          </a:p>
          <a:p>
            <a:pPr algn="l" indent="0" marL="0">
              <a:lnSpc>
                <a:spcPts val="221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회사 스타일로 만들어준다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22750" y="507950"/>
            <a:ext cx="0" cy="3537198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075" y="1603623"/>
            <a:ext cx="3813164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"3년차 직원처럼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알아서 일하는" 수준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37075" y="2416076"/>
            <a:ext cx="381316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600"/>
              </a:spcBef>
              <a:buNone/>
            </a:pPr>
            <a:r>
              <a:rPr lang="en-US" sz="1400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업무는 이미</a:t>
            </a:r>
            <a:endParaRPr lang="en-US" sz="1400" dirty="0"/>
          </a:p>
          <a:p>
            <a:pPr algn="l" indent="0" marL="0">
              <a:lnSpc>
                <a:spcPts val="2100"/>
              </a:lnSpc>
              <a:spcBef>
                <a:spcPts val="1600"/>
              </a:spcBef>
              <a:buNone/>
            </a:pPr>
            <a:r>
              <a:rPr lang="en-US" sz="1400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영역입니다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600" y="4253061"/>
            <a:ext cx="79248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1856" y="4435525"/>
            <a:ext cx="84002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경쟁사도 이미 쓰고 있을 겁니다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1419969"/>
            <a:ext cx="7969609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"기업들이 AI가 잘해서 사람을 자르는 게 아니라,</a:t>
            </a:r>
            <a:endParaRPr lang="en-US" sz="1700" dirty="0"/>
          </a:p>
          <a:p>
            <a:pPr algn="l" indent="0" marL="0">
              <a:lnSpc>
                <a:spcPts val="272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잘할 것 같아서 자르고 있다"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12750" y="2237780"/>
            <a:ext cx="79696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Harvard Business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50" y="2745730"/>
            <a:ext cx="7518499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3113931"/>
            <a:ext cx="796960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BNI 교육 대본도 완벽하게 써준다면...
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여기 서 있는 이유는?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imjimyoung/Documents/projects/bni-edu/ppt_team_agent/lectures/02_ai_skills/assets/noti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457200"/>
            <a:ext cx="406301" cy="406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4352" y="569863"/>
            <a:ext cx="14884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Judgment Economy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11101" y="1168301"/>
            <a:ext cx="81851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2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컨설턴트가 들어간 회사의 매출이 </a:t>
            </a:r>
            <a:pPr algn="l" indent="0" marL="0">
              <a:lnSpc>
                <a:spcPts val="2520"/>
              </a:lnSpc>
              <a:spcAft>
                <a:spcPts val="2800"/>
              </a:spcAft>
              <a:buNone/>
            </a:pPr>
            <a:r>
              <a:rPr lang="en-US" sz="18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11101" y="1843832"/>
            <a:ext cx="7721798" cy="80307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30151" y="1843832"/>
            <a:ext cx="0" cy="803077"/>
          </a:xfrm>
          <a:prstGeom prst="line">
            <a:avLst/>
          </a:prstGeom>
          <a:noFill/>
          <a:ln w="38100">
            <a:solidFill>
              <a:srgbClr val="1A73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14928" y="2131070"/>
            <a:ext cx="58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590627" y="2097732"/>
            <a:ext cx="175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928726" y="2131070"/>
            <a:ext cx="1095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판단력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96036" y="2097732"/>
            <a:ext cx="1759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541574" y="2107257"/>
            <a:ext cx="832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2배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11101" y="4259312"/>
            <a:ext cx="7721798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9447" y="4467225"/>
            <a:ext cx="81851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판단력은 복리로 쌓인다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856" y="507950"/>
            <a:ext cx="84002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6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따라올 수 없는 세 가지 판단력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9600" y="1298525"/>
            <a:ext cx="2472333" cy="333702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91717" y="166360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00183" y="1779389"/>
            <a:ext cx="908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82436" y="2425452"/>
            <a:ext cx="92651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읽는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60819" y="3085802"/>
            <a:ext cx="96989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너머의</a:t>
            </a:r>
            <a:endParaRPr lang="en-US" sz="1100" dirty="0"/>
          </a:p>
          <a:p>
            <a:pPr algn="ctr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 의미를 읽다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5834" y="1298525"/>
            <a:ext cx="2472333" cy="333702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950" y="166360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07013" y="1779389"/>
            <a:ext cx="1296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6634" y="2425452"/>
            <a:ext cx="14505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리스크를 감수하는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05668" y="3085802"/>
            <a:ext cx="93266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확률이 아닌</a:t>
            </a:r>
            <a:endParaRPr lang="en-US" sz="1100" dirty="0"/>
          </a:p>
          <a:p>
            <a:pPr algn="ctr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관계로 결정하다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62067" y="1298525"/>
            <a:ext cx="2472333" cy="333702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44184" y="166360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3089" y="1779389"/>
            <a:ext cx="12999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36198" y="2425452"/>
            <a:ext cx="5240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버리는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39158" y="3085802"/>
            <a:ext cx="91815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100개 중 9개를</a:t>
            </a:r>
            <a:endParaRPr lang="en-US" sz="1100" dirty="0"/>
          </a:p>
          <a:p>
            <a:pPr algn="ctr" indent="0" marL="0">
              <a:lnSpc>
                <a:spcPts val="154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걸러내는 용기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1223367"/>
            <a:ext cx="7721798" cy="253901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1274118"/>
            <a:ext cx="79159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101" y="1629668"/>
            <a:ext cx="81851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읽는 판단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1101" y="2318593"/>
            <a:ext cx="7721798" cy="101084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0151" y="2318593"/>
            <a:ext cx="0" cy="1010841"/>
          </a:xfrm>
          <a:prstGeom prst="line">
            <a:avLst/>
          </a:prstGeom>
          <a:noFill/>
          <a:ln w="381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102" y="2521744"/>
            <a:ext cx="7606451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"올해 좀 힘들어요..."</a:t>
            </a:r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라는 거래처 사장님의 말이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세금 불만인지, 사업 정리 고민인지 알아채는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101" y="3634234"/>
            <a:ext cx="81851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소주 한잔의 대화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나오는 맥락은 AI에게 없습니다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1081683"/>
            <a:ext cx="7721798" cy="253901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1132433"/>
            <a:ext cx="79159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101" y="1487984"/>
            <a:ext cx="81851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리스크를 감수하는 판단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1101" y="2176909"/>
            <a:ext cx="7721798" cy="101084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0151" y="2176909"/>
            <a:ext cx="0" cy="1010841"/>
          </a:xfrm>
          <a:prstGeom prst="line">
            <a:avLst/>
          </a:prstGeom>
          <a:noFill/>
          <a:ln w="381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102" y="2380059"/>
            <a:ext cx="7606451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발주 중단을 추천받아도,</a:t>
            </a: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"어려울 때 도와주면 갚을 사람"이라며 밀어붙이는 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1101" y="3492550"/>
            <a:ext cx="8185106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추천은 하지만 </a:t>
            </a:r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책임지지 않습니다.</a:t>
            </a:r>
            <a:pPr algn="l" indent="0" marL="0">
              <a:lnSpc>
                <a:spcPts val="2240"/>
              </a:lnSpc>
              <a:buNone/>
            </a:pP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 전화 받는 건 여러분이에요.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1020366"/>
            <a:ext cx="7721798" cy="253901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8051" y="1071116"/>
            <a:ext cx="79159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1101" y="1426666"/>
            <a:ext cx="818510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버리는 판단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1101" y="2115592"/>
            <a:ext cx="7721798" cy="73134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0151" y="2115592"/>
            <a:ext cx="0" cy="731341"/>
          </a:xfrm>
          <a:prstGeom prst="line">
            <a:avLst/>
          </a:prstGeom>
          <a:noFill/>
          <a:ln w="381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102" y="2318742"/>
            <a:ext cx="760645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"사장님, 이건 안 하시는 게 맞습니다"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1101" y="3151733"/>
            <a:ext cx="81851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 한다"고 말할 수 있는 것,</a:t>
            </a:r>
            <a:endParaRPr lang="en-US" sz="1500" dirty="0"/>
          </a:p>
          <a:p>
            <a:pPr algn="l" indent="0" marL="0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그것이 수수료의 진짜 근거입니다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1101" y="3875633"/>
            <a:ext cx="8185106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100개를 만들지만, 9개를 버리는 판단은 사람만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856" y="457200"/>
            <a:ext cx="84002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2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Skill이 담긴 60초 소개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600" y="1066800"/>
            <a:ext cx="3470374" cy="3619500"/>
          </a:xfrm>
          <a:prstGeom prst="rect">
            <a:avLst/>
          </a:prstGeom>
          <a:solidFill>
            <a:srgbClr val="F5F5F5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98475" y="1330226"/>
            <a:ext cx="30661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5초 만에 쓴 소개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8475" y="1660327"/>
            <a:ext cx="3066181" cy="276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"주거, 상업 공간 인테리어 합니다. 리모델링 필요하신 분 소개해주세요."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57998" y="2767013"/>
            <a:ext cx="22133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44976" y="1066800"/>
            <a:ext cx="3489424" cy="36195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43376" y="1339751"/>
            <a:ext cx="30661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판단력이 담긴 소개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43376" y="1669852"/>
            <a:ext cx="3066181" cy="274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"도면 보고 3분 안에 '여기 건드리면 큰일 납니다'를 찾아냅니다. 2호점 내시는 프랜차이즈 사장님 소개해주세요."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195" y="930920"/>
            <a:ext cx="796960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2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불가능한 나만의 Skills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928217" y="1569095"/>
            <a:ext cx="1368921" cy="472976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12585" y="1705570"/>
            <a:ext cx="10001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읽는 맥락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01938" y="1569095"/>
            <a:ext cx="1797248" cy="472976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73457" y="1705570"/>
            <a:ext cx="14542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감수하는 리스크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03987" y="1569095"/>
            <a:ext cx="1511796" cy="472976"/>
          </a:xfrm>
          <a:prstGeom prst="rect">
            <a:avLst/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84069" y="1705570"/>
            <a:ext cx="11516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버리는 것들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750" y="2549872"/>
            <a:ext cx="7518499" cy="12650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7195" y="2816423"/>
            <a:ext cx="79696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7195" y="3130748"/>
            <a:ext cx="7969609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"저는 </a:t>
            </a:r>
            <a:pPr algn="ctr" indent="0" marL="0">
              <a:lnSpc>
                <a:spcPts val="256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___</a:t>
            </a:r>
            <a:pPr algn="ctr" indent="0" marL="0">
              <a:lnSpc>
                <a:spcPts val="256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하는 사람이 아니라,
</a:t>
            </a:r>
            <a:pPr algn="ctr" indent="0" marL="0">
              <a:lnSpc>
                <a:spcPts val="256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A7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___</a:t>
            </a:r>
            <a:pPr algn="ctr" indent="0" marL="0">
              <a:lnSpc>
                <a:spcPts val="256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판단하는 사람입니다."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7195" y="3983980"/>
            <a:ext cx="79696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60초 소개의 첫 문장으로 써보세요.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AI가 대체할 수 없는 내 Skills 찾기</dc:title>
  <dc:subject>10분 강의 - 신뢰의 희소성</dc:subject>
  <dc:creator>BNI Education</dc:creator>
  <cp:lastModifiedBy>BNI Education</cp:lastModifiedBy>
  <cp:revision>1</cp:revision>
  <dcterms:created xsi:type="dcterms:W3CDTF">2026-03-24T12:47:53Z</dcterms:created>
  <dcterms:modified xsi:type="dcterms:W3CDTF">2026-03-24T12:47:53Z</dcterms:modified>
</cp:coreProperties>
</file>