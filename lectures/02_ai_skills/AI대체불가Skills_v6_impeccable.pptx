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(강의 시작 전 타이틀 슬라이드. 청중이 착석하면서 볼 수 있도록 미리 띄워놓기.)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여러분, 오픈클로 들어보셨죠? 한 달 만에 GitHub 스타 20만 개를 찍은 AI 에이전트입니다. 카카오, 네이버, 당근마켓이 보안 문제로 사내 사용을 금지시켰을 정도로 임팩트가 큰 도구입니다. 카톡으로 메시지 하나 보내면, AI가 알아서 컴퓨터를 조작합니다. PPT 만들고, 이메일 보내고, 견적서까지 작성합니다. 사람이 없어도요.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(2초 침묵 후, 천천히) 그런데 이 AI가 못하는 게 딱 하나 있습니다. (슬라이드 전환) 신뢰. '이 사람을 믿겠다'는 결정은 누가 내립니까? AI가요? 아닙니다. 여전히 사람입니다. 오늘 저는 이 한 가지 이야기를 하려고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자, 이제 숫자로 보겠습니다. AI가 모든 것을 싸고 빠르게 만드는 시대에, 유일하게 값이 올라가고 있는 것이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숫자를 보겠습니다. 전문가의 64%가 AI가 만들어낸 분석보다 자신의 인간 네트워크에서 얻은 인사이트를 더 신뢰한다고 응답했습니다. 영업에서도 마찬가지입니다. 관계 기반 추천의 전환율은 15~25%인데, 콜드콜은 고작 2~3%입니다. 4배 차이. 지인의 추천을 신뢰하는 비율은 92%인데, 온라인 광고는 33%에 불과합니다. AI가 정보를 무료로 만들수록, '누가 말했느냐'의 가치, 즉 신뢰의 가격은 올라가고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링크드인이 3,000명 이상을 대상으로 조사한 결과, 일자리의 85%가 네트워킹을 통해 채워집니다. 추천 지원자는 전체의 7%에 불과하지만, 실제 채용의 40%를 차지합니다. 더 아이러니한 건, AI 채용 필터가 강화될수록 이 수치가 더 올라간다는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여러분이 매주 하고 계신 그 추천 한 건. 그게 뭔지 다시 생각해보겠습니다. BNI 회원들이 지난 12개월간 추천을 통해 만들어낸 수익이 약 35조원입니다. 1,740만 건의 추천이 오갔습니다. 추천 한 건의 의미는, 내 평판을 걸고 누군가를 보증한다는 뜻입니다. 이것은 어떤 AI 알고리즘도 생성할 수 없는, 인간 고유의 행위입니다.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자, 그러면 우리가 오늘부터 할 수 있는 것은 무엇인가.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AI에게 시간을 뺏기는 것이 아니라, AI가 절약해준 시간을 사람에게 투자하세요. 1-1-1 네트워킹 법칙입니다. 매주 1명에게 먼저 연락하세요. 매주 1시간을 만남에 투자하세요. 만남마다 상대에게 1가지 도움을 먼저 제공하세요. 1년이면 52명, 3년이면 150명입니다. 던바의 수, 즉 의미 있는 관계를 유지할 수 있는 상한이 150명입니다. 3년이면 당신의 관계 자본이 가득 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이 강의가 끝나고 딱 한 가지만 해주십시오. 핸드폰을 꺼내서, 최근 3개월간 연락하지 못한 사람 한 명에게 메시지를 보내세요. 거창할 필요 없습니다. '요즘 어떻게 지내세요? 한번 뵙고 싶습니다.' 이 한 줄이면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(느리게, 무게 있게) AI시대에 가장 비싼 것은 신뢰입니다. 그리고 이 방에 있는 여러분이, 신뢰를 만드는 사람들입니다.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09600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2413" y="1616273"/>
            <a:ext cx="111062" cy="1910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BNI K-CHAPTER · AI 시대 네트워킹 #2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269950" y="507950"/>
            <a:ext cx="49542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대체할 수 없는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69950" y="1599307"/>
            <a:ext cx="4954226" cy="916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20"/>
              </a:lnSpc>
              <a:buNone/>
            </a:pPr>
            <a:r>
              <a:rPr lang="en-US" sz="7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Skills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1269950" y="2516088"/>
            <a:ext cx="4954226" cy="916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20"/>
              </a:lnSpc>
              <a:buNone/>
            </a:pPr>
            <a:r>
              <a:rPr lang="en-US" sz="7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찾기</a:t>
            </a:r>
            <a:endParaRPr lang="en-US" sz="7600" dirty="0"/>
          </a:p>
        </p:txBody>
      </p:sp>
      <p:sp>
        <p:nvSpPr>
          <p:cNvPr id="7" name="Text 5"/>
          <p:cNvSpPr/>
          <p:nvPr/>
        </p:nvSpPr>
        <p:spPr>
          <a:xfrm>
            <a:off x="1269950" y="3737670"/>
            <a:ext cx="711101" cy="381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69950" y="4533900"/>
            <a:ext cx="8376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2026. 03. 24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49676" y="4419600"/>
            <a:ext cx="1394073" cy="2667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52826" y="4495800"/>
            <a:ext cx="10470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F5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BNI K-CHAPTER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00366" y="1174700"/>
            <a:ext cx="3450794" cy="279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0"/>
              </a:lnSpc>
              <a:buNone/>
            </a:pPr>
            <a:r>
              <a:rPr lang="en-US" sz="22000" b="1" dirty="0">
                <a:solidFill>
                  <a:srgbClr val="EEE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#2</a:t>
            </a:r>
            <a:endParaRPr lang="en-US" sz="2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1046"/>
            <a:ext cx="775411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800"/>
              </a:spcAft>
              <a:buNone/>
            </a:pPr>
            <a:r>
              <a:rPr lang="en-US" sz="16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이거 AI한테 시키면 되겠다 하고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1846957"/>
            <a:ext cx="7754112" cy="609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직원한테 줄 일을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456408"/>
            <a:ext cx="7754112" cy="609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준 적 있으신 분?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3871317"/>
            <a:ext cx="73152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180880"/>
            <a:ext cx="7754112" cy="302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여러분의 고객도, 여러분한테 똑같은 생각을 하고 있을 수 있습니다.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89188" y="0"/>
            <a:ext cx="0" cy="5143500"/>
          </a:xfrm>
          <a:prstGeom prst="line">
            <a:avLst/>
          </a:prstGeom>
          <a:noFill/>
          <a:ln w="9525">
            <a:solidFill>
              <a:srgbClr val="D4D4D0"/>
            </a:solidFill>
            <a:prstDash val="solid"/>
          </a:ln>
        </p:spPr>
      </p:sp>
      <p:pic>
        <p:nvPicPr>
          <p:cNvPr id="3" name="Image 0" descr="/Users/kimjimyoung/Documents/projects/bni-edu/ppt_team_agent/lectures/02_ai_skills/assets/claud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701" y="558701"/>
            <a:ext cx="406301" cy="4063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1952" y="615851"/>
            <a:ext cx="9960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ANTHROPIC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1091952" y="745927"/>
            <a:ext cx="9960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· Skills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58701" y="2266950"/>
            <a:ext cx="192858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AI한테 회사 업무 방식을 가르치면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58701" y="2901851"/>
            <a:ext cx="19285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이메일·제안서·PPT를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58701" y="3270052"/>
            <a:ext cx="19285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회사 스타일로 만든다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352651" y="1581894"/>
            <a:ext cx="54926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메시지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352651" y="1896219"/>
            <a:ext cx="5492654" cy="554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7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"3년차 직원처럼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3352651" y="2451199"/>
            <a:ext cx="5492654" cy="554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7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알아서 일한다"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3352651" y="4029373"/>
            <a:ext cx="5181749" cy="555427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657451" y="4207073"/>
            <a:ext cx="48464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여러분 경쟁사도 이미 쓰고 있을 겁니다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5901" y="711101"/>
            <a:ext cx="7538930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0"/>
              </a:lnSpc>
              <a:spcAft>
                <a:spcPts val="1200"/>
              </a:spcAft>
              <a:buNone/>
            </a:pPr>
            <a:r>
              <a:rPr lang="en-US" sz="5600" b="1" dirty="0">
                <a:solidFill>
                  <a:srgbClr val="D4D4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015901" y="1950839"/>
            <a:ext cx="753893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잘해서 자르는 게 아니라,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15901" y="2484239"/>
            <a:ext cx="753893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잘할 것 같아서 자르고 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15901" y="3220789"/>
            <a:ext cx="75389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buNone/>
            </a:pPr>
            <a:r>
              <a:rPr lang="en-US" sz="10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Harvard Business Review,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15901" y="3891558"/>
            <a:ext cx="7112198" cy="12650"/>
          </a:xfrm>
          <a:prstGeom prst="rect">
            <a:avLst/>
          </a:prstGeom>
          <a:solidFill>
            <a:srgbClr val="D4D4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5901" y="4158109"/>
            <a:ext cx="2431048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i="1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교육 대본도 써준다면...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09342" y="4158109"/>
            <a:ext cx="2098021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여기 서 있는 이유는?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67238" y="0"/>
            <a:ext cx="0" cy="5143500"/>
          </a:xfrm>
          <a:prstGeom prst="line">
            <a:avLst/>
          </a:prstGeom>
          <a:noFill/>
          <a:ln w="9525">
            <a:solidFill>
              <a:srgbClr val="D4D4D0"/>
            </a:solidFill>
            <a:prstDash val="solid"/>
          </a:ln>
        </p:spPr>
      </p:sp>
      <p:pic>
        <p:nvPicPr>
          <p:cNvPr id="3" name="Image 0" descr="/Users/kimjimyoung/Documents/projects/bni-edu/ppt_team_agent/lectures/02_ai_skills/assets/notion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50" y="558701"/>
            <a:ext cx="304800" cy="30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2101" y="639663"/>
            <a:ext cx="13078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NOTION RESEARCH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60350" y="1843980"/>
            <a:ext cx="3597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컨설턴트가 들어간 회사의 매출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60350" y="2047131"/>
            <a:ext cx="3597825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0"/>
              </a:lnSpc>
              <a:buNone/>
            </a:pPr>
            <a:r>
              <a:rPr lang="en-US" sz="9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2배</a:t>
            </a:r>
            <a:endParaRPr lang="en-US" sz="9600" dirty="0"/>
          </a:p>
        </p:txBody>
      </p:sp>
      <p:sp>
        <p:nvSpPr>
          <p:cNvPr id="7" name="Shape 4"/>
          <p:cNvSpPr/>
          <p:nvPr/>
        </p:nvSpPr>
        <p:spPr>
          <a:xfrm>
            <a:off x="660350" y="4129385"/>
            <a:ext cx="3394174" cy="0"/>
          </a:xfrm>
          <a:prstGeom prst="line">
            <a:avLst/>
          </a:prstGeom>
          <a:noFill/>
          <a:ln w="9525">
            <a:solidFill>
              <a:srgbClr val="D4D4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0350" y="4337298"/>
            <a:ext cx="3597825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"판단력은 복리로 쌓인다"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181600" y="730746"/>
            <a:ext cx="35539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400"/>
              </a:spcAft>
              <a:buNone/>
            </a:pPr>
            <a:r>
              <a:rPr lang="en-US" sz="900" b="1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JUDGMENT ECONOMY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181600" y="1178421"/>
            <a:ext cx="3352800" cy="752177"/>
          </a:xfrm>
          <a:prstGeom prst="rect">
            <a:avLst/>
          </a:prstGeom>
          <a:solidFill>
            <a:srgbClr val="E8E8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435501" y="1356122"/>
            <a:ext cx="301569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도구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435501" y="1600498"/>
            <a:ext cx="30156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Claude, Notion, Perplexity...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35501" y="2057549"/>
            <a:ext cx="301569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181600" y="2508349"/>
            <a:ext cx="3352800" cy="752177"/>
          </a:xfrm>
          <a:prstGeom prst="rect">
            <a:avLst/>
          </a:prstGeom>
          <a:solidFill>
            <a:srgbClr val="E8E8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435501" y="2686050"/>
            <a:ext cx="301569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사람의 판단력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435501" y="2930426"/>
            <a:ext cx="30156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 · 리스크 · 결정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35501" y="3387477"/>
            <a:ext cx="301569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181600" y="3838277"/>
            <a:ext cx="3352800" cy="574477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435501" y="4015978"/>
            <a:ext cx="301569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2배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48238" y="0"/>
            <a:ext cx="0" cy="514350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2750" y="660350"/>
            <a:ext cx="373239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400"/>
              </a:spcAft>
              <a:buNone/>
            </a:pPr>
            <a:r>
              <a:rPr lang="en-US" sz="800" b="1" dirty="0">
                <a:solidFill>
                  <a:srgbClr val="5555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CORE FRAMEWORK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12750" y="1079450"/>
            <a:ext cx="3732392" cy="1158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따라올 수 없는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12750" y="2237631"/>
            <a:ext cx="3732392" cy="57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가지 판단력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12750" y="4445050"/>
            <a:ext cx="507950" cy="381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562600" y="2109788"/>
            <a:ext cx="292105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62600" y="1444675"/>
            <a:ext cx="430679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172051" y="1597075"/>
            <a:ext cx="138290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맥락을 읽는 판단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62600" y="3033564"/>
            <a:ext cx="2921050" cy="0"/>
          </a:xfrm>
          <a:prstGeom prst="line">
            <a:avLst/>
          </a:prstGeom>
          <a:noFill/>
          <a:ln w="9525">
            <a:solidFill>
              <a:srgbClr val="2E2E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62600" y="2368451"/>
            <a:ext cx="430679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172051" y="2520851"/>
            <a:ext cx="19352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리스크를 감수하는 판단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62600" y="3292227"/>
            <a:ext cx="430679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172051" y="3444627"/>
            <a:ext cx="96768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버리는 판단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675531"/>
            <a:ext cx="832396" cy="241102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90451" y="738932"/>
            <a:ext cx="5056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48296" y="558701"/>
            <a:ext cx="2833804" cy="474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맥락을 읽는 판단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12750" y="1389162"/>
            <a:ext cx="7518499" cy="1079599"/>
          </a:xfrm>
          <a:prstGeom prst="rect">
            <a:avLst/>
          </a:prstGeom>
          <a:solidFill>
            <a:srgbClr val="E8E8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36563" y="1389162"/>
            <a:ext cx="0" cy="1079599"/>
          </a:xfrm>
          <a:prstGeom prst="line">
            <a:avLst/>
          </a:prstGeom>
          <a:noFill/>
          <a:ln w="4762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5175" y="1617762"/>
            <a:ext cx="7272951" cy="3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"올해 좀 힘들어요..." 라는 거래처 사장님의 말이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65175" y="1928961"/>
            <a:ext cx="7272951" cy="3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 세금 불만인지, 사업 정리 고민인지 알아채는 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750" y="4315569"/>
            <a:ext cx="480609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소주 한잔의 대화에서 나오는 맥락은 AI에게 없습니다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675531"/>
            <a:ext cx="845790" cy="241102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90451" y="738932"/>
            <a:ext cx="5198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61691" y="558701"/>
            <a:ext cx="3980230" cy="474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리스크를 감수하는 판단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12750" y="1389162"/>
            <a:ext cx="7518499" cy="1079599"/>
          </a:xfrm>
          <a:prstGeom prst="rect">
            <a:avLst/>
          </a:prstGeom>
          <a:solidFill>
            <a:srgbClr val="E8E8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36563" y="1389162"/>
            <a:ext cx="0" cy="1079599"/>
          </a:xfrm>
          <a:prstGeom prst="line">
            <a:avLst/>
          </a:prstGeom>
          <a:noFill/>
          <a:ln w="4762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5175" y="1617762"/>
            <a:ext cx="7272951" cy="3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발주 중단을 추천받아도,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65175" y="1928961"/>
            <a:ext cx="7272951" cy="3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"어려울 때 도와주면 갚을 사람"이라며 밀어붙이는 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750" y="4009579"/>
            <a:ext cx="3399996" cy="312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추천은 하지만 책임지지 않습니다.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12750" y="4322564"/>
            <a:ext cx="3364816" cy="312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새벽 2시에 전화 받는 건 여러분이에요.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50" y="670768"/>
            <a:ext cx="812453" cy="250627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90451" y="734169"/>
            <a:ext cx="48447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28354" y="558701"/>
            <a:ext cx="1997845" cy="474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버리는 판단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12750" y="1389162"/>
            <a:ext cx="7518499" cy="888802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68301" y="1643063"/>
            <a:ext cx="721584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"사장님, 이건 안 하시는 게 맞습니다"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2750" y="4006007"/>
            <a:ext cx="2722584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'안 한다'고 말할 수 있는 것,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750" y="4320778"/>
            <a:ext cx="2722584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그것이 수수료의 진짜 근거입니다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53938"/>
            <a:ext cx="9144000" cy="0"/>
          </a:xfrm>
          <a:prstGeom prst="line">
            <a:avLst/>
          </a:prstGeom>
          <a:noFill/>
          <a:ln w="9525">
            <a:solidFill>
              <a:srgbClr val="D4D4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0350" y="203150"/>
            <a:ext cx="82926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BNI 60초 소개 — Before / After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558701"/>
            <a:ext cx="3403550" cy="4584799"/>
          </a:xfrm>
          <a:prstGeom prst="rect">
            <a:avLst/>
          </a:prstGeom>
          <a:solidFill>
            <a:srgbClr val="E8E8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398788" y="558701"/>
            <a:ext cx="0" cy="4584799"/>
          </a:xfrm>
          <a:prstGeom prst="line">
            <a:avLst/>
          </a:prstGeom>
          <a:noFill/>
          <a:ln w="9525">
            <a:solidFill>
              <a:srgbClr val="D4D4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6301" y="914251"/>
            <a:ext cx="27363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AAAA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5초 만에 쓴 소개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06301" y="1130052"/>
            <a:ext cx="253901" cy="12650"/>
          </a:xfrm>
          <a:prstGeom prst="rect">
            <a:avLst/>
          </a:prstGeom>
          <a:solidFill>
            <a:srgbClr val="BBBBB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6301" y="1345853"/>
            <a:ext cx="2736309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주거, 상업 공간 인테리어 합니다.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1627733"/>
            <a:ext cx="2736309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리모델링 필요하신 분 소개해주세요.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03550" y="558701"/>
            <a:ext cx="5740450" cy="4584799"/>
          </a:xfrm>
          <a:prstGeom prst="rect">
            <a:avLst/>
          </a:prstGeom>
          <a:solidFill>
            <a:srgbClr val="F5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422600" y="558701"/>
            <a:ext cx="0" cy="4584799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49601" y="914251"/>
            <a:ext cx="4967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판단력이 담긴 소개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949601" y="1130052"/>
            <a:ext cx="355550" cy="25301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949601" y="2536627"/>
            <a:ext cx="49676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도면 보고 3분 안에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49601" y="2911227"/>
            <a:ext cx="49676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'여기 건드리면 큰일 납니다'를 찾아냅니다.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949601" y="3285827"/>
            <a:ext cx="496763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2호점 내시는 프랜차이즈 사장님 소개해주세요.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58701"/>
            <a:ext cx="77541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800" b="1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대체 불가능한 나만의 Skills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14400" y="825401"/>
            <a:ext cx="10549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읽는 맥락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909614" y="825401"/>
            <a:ext cx="372466" cy="209550"/>
          </a:xfrm>
          <a:prstGeom prst="rect">
            <a:avLst/>
          </a:prstGeom>
          <a:noFill/>
          <a:ln/>
        </p:spPr>
        <p:txBody>
          <a:bodyPr wrap="square" lIns="152400" tIns="0" rIns="15240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260997" y="825401"/>
            <a:ext cx="15381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감수하는 리스크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12071" y="825401"/>
            <a:ext cx="372466" cy="209550"/>
          </a:xfrm>
          <a:prstGeom prst="rect">
            <a:avLst/>
          </a:prstGeom>
          <a:noFill/>
          <a:ln/>
        </p:spPr>
        <p:txBody>
          <a:bodyPr wrap="square" lIns="152400" tIns="0" rIns="15240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63454" y="825401"/>
            <a:ext cx="12159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버리는 것들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921966"/>
            <a:ext cx="7315200" cy="12650"/>
          </a:xfrm>
          <a:prstGeom prst="rect">
            <a:avLst/>
          </a:prstGeom>
          <a:solidFill>
            <a:srgbClr val="D4D4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14400" y="2821632"/>
            <a:ext cx="973634" cy="206276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66800" y="2872383"/>
            <a:ext cx="70896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914400" y="3231059"/>
            <a:ext cx="7754112" cy="51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"저는 [___]를 하는 사람이 아니라,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14400" y="3742879"/>
            <a:ext cx="7754112" cy="51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3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[___]를 판단하는 사람입니다."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14400" y="4432399"/>
            <a:ext cx="77541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buNone/>
            </a:pPr>
            <a:r>
              <a:rPr lang="en-US" sz="1000" dirty="0">
                <a:solidFill>
                  <a:srgbClr val="9999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주 60초 소개의 첫 문장으로 써보세요.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AI가 대체할 수 없는 내 Skills 찾기</dc:title>
  <dc:subject>10분 강의 - 신뢰의 희소성</dc:subject>
  <dc:creator>BNI Education</dc:creator>
  <cp:lastModifiedBy>BNI Education</cp:lastModifiedBy>
  <cp:revision>1</cp:revision>
  <dcterms:created xsi:type="dcterms:W3CDTF">2026-03-24T13:21:46Z</dcterms:created>
  <dcterms:modified xsi:type="dcterms:W3CDTF">2026-03-24T13:21:46Z</dcterms:modified>
</cp:coreProperties>
</file>