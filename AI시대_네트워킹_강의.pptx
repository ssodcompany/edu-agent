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(강의 시작 전 타이틀 슬라이드. 청중이 착석하면서 볼 수 있도록 미리 띄워놓기.)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오픈클로 들어보셨죠? 한 달 만에 GitHub 스타 20만 개를 찍은 AI 에이전트입니다. 카카오, 네이버, 당근마켓이 보안 문제로 사내 사용을 금지시켰을 정도로 임팩트가 큰 도구입니다. 카톡으로 메시지 하나 보내면, AI가 알아서 컴퓨터를 조작합니다. PPT 만들고, 이메일 보내고, 견적서까지 작성합니다. 사람이 없어도요.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(2초 침묵 후, 천천히) 그런데 이 AI가 못하는 게 딱 하나 있습니다. (슬라이드 전환) 신뢰. '이 사람을 믿겠다'는 결정은 누가 내립니까? AI가요? 아닙니다. 여전히 사람입니다. 오늘 저는 이 한 가지 이야기를 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숫자로 보겠습니다. AI가 모든 것을 싸고 빠르게 만드는 시대에, 유일하게 값이 올라가고 있는 것이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보겠습니다. 전문가의 64%가 AI가 만들어낸 분석보다 자신의 인간 네트워크에서 얻은 인사이트를 더 신뢰한다고 응답했습니다. 영업에서도 마찬가지입니다. 관계 기반 추천의 전환율은 15~25%인데, 콜드콜은 고작 2~3%입니다. 4배 차이. 지인의 추천을 신뢰하는 비율은 92%인데, 온라인 광고는 33%에 불과합니다. AI가 정보를 무료로 만들수록, '누가 말했느냐'의 가치, 즉 신뢰의 가격은 올라가고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링크드인이 3,000명 이상을 대상으로 조사한 결과, 일자리의 85%가 네트워킹을 통해 채워집니다. 추천 지원자는 전체의 7%에 불과하지만, 실제 채용의 40%를 차지합니다. 더 아이러니한 건, AI 채용 필터가 강화될수록 이 수치가 더 올라간다는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매주 하고 계신 그 추천 한 건. 그게 뭔지 다시 생각해보겠습니다. BNI 회원들이 지난 12개월간 추천을 통해 만들어낸 수익이 약 35조원입니다. 1,740만 건의 추천이 오갔습니다. 추천 한 건의 의미는, 내 평판을 걸고 누군가를 보증한다는 뜻입니다. 이것은 어떤 AI 알고리즘도 생성할 수 없는, 인간 고유의 행위입니다.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그러면 우리가 오늘부터 할 수 있는 것은 무엇인가.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시간을 뺏기는 것이 아니라, AI가 절약해준 시간을 사람에게 투자하세요. 1-1-1 네트워킹 법칙입니다. 매주 1명에게 먼저 연락하세요. 매주 1시간을 만남에 투자하세요. 만남마다 상대에게 1가지 도움을 먼저 제공하세요. 1년이면 52명, 3년이면 150명입니다. 던바의 수, 즉 의미 있는 관계를 유지할 수 있는 상한이 150명입니다. 3년이면 당신의 관계 자본이 가득 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 강의가 끝나고 딱 한 가지만 해주십시오. 핸드폰을 꺼내서, 최근 3개월간 연락하지 못한 사람 한 명에게 메시지를 보내세요. 거창할 필요 없습니다. '요즘 어떻게 지내세요? 한번 뵙고 싶습니다.' 이 한 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(느리게, 무게 있게) AI시대에 가장 비싼 것은 신뢰입니다. 그리고 이 방에 있는 여러분이, 신뢰를 만드는 사람들입니다.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3751" y="558701"/>
            <a:ext cx="997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BNI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13129" y="59203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90830" y="558701"/>
            <a:ext cx="9106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10-Minute Lecture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3751" y="1155353"/>
            <a:ext cx="5583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시대에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3751" y="1456879"/>
            <a:ext cx="5583528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결국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23751" y="2317700"/>
            <a:ext cx="5583528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남는 것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23751" y="333092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kimjimyoung/Documents/projects/bni-edu/ppt_team_agent/assets/deco-circl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749" y="1373237"/>
            <a:ext cx="1777901" cy="17779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3751" y="4299049"/>
            <a:ext cx="6315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23751" y="4441924"/>
            <a:ext cx="631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2026. 02. 24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49177" y="4299049"/>
            <a:ext cx="6357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TOPIC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749177" y="4441924"/>
            <a:ext cx="635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신뢰의 희소성</a:t>
            </a:r>
            <a:endParaRPr lang="en-US" sz="900" dirty="0"/>
          </a:p>
        </p:txBody>
      </p:sp>
      <p:pic>
        <p:nvPicPr>
          <p:cNvPr id="15" name="Image 1" descr="/Users/kimjimyoung/Documents/projects/bni-edu/ppt_team_agent/assets/deco-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50" y="3822799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048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kimjimyoung/Documents/projects/bni-edu/ppt_team_agent/assets/icon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2" y="507950"/>
            <a:ext cx="279350" cy="279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402" y="576114"/>
            <a:ext cx="9291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OPENING HOOK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167830" y="641300"/>
            <a:ext cx="6108502" cy="1265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403282" y="576114"/>
            <a:ext cx="1337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2102" y="1940719"/>
            <a:ext cx="511718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스타 </a:t>
            </a:r>
            <a:pPr algn="l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20만 개.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22102" y="2598390"/>
            <a:ext cx="511718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카카오, 네이버, 당근마켓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22102" y="3256062"/>
            <a:ext cx="511718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사용금지.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94499" y="1956346"/>
            <a:ext cx="2539901" cy="1764060"/>
          </a:xfrm>
          <a:prstGeom prst="roundRect">
            <a:avLst>
              <a:gd name="adj" fmla="val 5759"/>
            </a:avLst>
          </a:prstGeom>
          <a:solidFill>
            <a:srgbClr val="F8F8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013549" y="1956346"/>
            <a:ext cx="0" cy="1764060"/>
          </a:xfrm>
          <a:prstGeom prst="line">
            <a:avLst/>
          </a:prstGeom>
          <a:noFill/>
          <a:ln w="38100">
            <a:solidFill>
              <a:srgbClr val="C496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6500" y="2210246"/>
            <a:ext cx="203387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여러분, </a:t>
            </a:r>
            <a:pPr algn="l" indent="0" marL="0">
              <a:lnSpc>
                <a:spcPts val="20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오픈클로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아시죠?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6500" y="2596158"/>
            <a:ext cx="2033879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카톡으로 메시지 하나 보내면 AI가 컴퓨터를 조작합니다.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86500" y="3266480"/>
            <a:ext cx="20338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3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없이도요.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imjimyoung/Documents/projects/bni-edu/ppt_team_agent/assets/deco-circl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50" y="1168301"/>
            <a:ext cx="2793950" cy="2793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40905" y="652165"/>
            <a:ext cx="2262042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7777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이 AI가 못하는 게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778216" y="1271736"/>
            <a:ext cx="158727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7777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딱 하나 있습니다.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317950" y="2043708"/>
            <a:ext cx="507950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478554" y="2475309"/>
            <a:ext cx="2186595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신뢰.</a:t>
            </a:r>
            <a:endParaRPr lang="en-US" sz="7600" dirty="0"/>
          </a:p>
        </p:txBody>
      </p:sp>
      <p:pic>
        <p:nvPicPr>
          <p:cNvPr id="7" name="Image 1" descr="/Users/kimjimyoung/Documents/projects/bni-edu/ppt_team_agent/assets/icon-handshak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251" y="4034135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558701"/>
            <a:ext cx="22801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6301" y="809476"/>
            <a:ext cx="253901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4441924"/>
            <a:ext cx="2280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INSIGHT</a:t>
            </a:r>
            <a:endParaRPr lang="en-US" sz="900" dirty="0"/>
          </a:p>
        </p:txBody>
      </p:sp>
      <p:pic>
        <p:nvPicPr>
          <p:cNvPr id="5" name="Image 0" descr="/Users/kimjimyoung/Documents/projects/bni-edu/ppt_team_agent/assets/icon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80505"/>
            <a:ext cx="406301" cy="406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891457"/>
            <a:ext cx="4974336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모든 걸 만드는 시대,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0" y="2655838"/>
            <a:ext cx="4974336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0"/>
              </a:lnSpc>
              <a:buNone/>
            </a:pPr>
            <a:r>
              <a:rPr lang="en-US" sz="34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유일하게 값이 올라가는 것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0" y="3521720"/>
            <a:ext cx="507950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57600" y="3800921"/>
            <a:ext cx="4974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숫자로 증명하는 신뢰의 가치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7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457200"/>
            <a:ext cx="35393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정보는 무료가 됐다. 신뢰만 유료다.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05217" y="538163"/>
            <a:ext cx="131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015901"/>
            <a:ext cx="2523083" cy="3061097"/>
          </a:xfrm>
          <a:prstGeom prst="roundRect">
            <a:avLst>
              <a:gd name="adj" fmla="val 5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Users/kimjimyoung/Documents/projects/bni-edu/ppt_team_agent/assets/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01" y="126980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3602" y="1322189"/>
            <a:ext cx="6460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TRUST INDEX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3501" y="2670721"/>
            <a:ext cx="2055587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63501" y="3423196"/>
            <a:ext cx="20555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전문가가 AI보다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3501" y="3613547"/>
            <a:ext cx="20555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인간 네트워크를 더 신뢰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10384" y="1015901"/>
            <a:ext cx="2523232" cy="3061097"/>
          </a:xfrm>
          <a:prstGeom prst="roundRect">
            <a:avLst>
              <a:gd name="adj" fmla="val 50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kimjimyoung/Documents/projects/bni-edu/ppt_team_agent/assets/icon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285" y="126980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94386" y="1322189"/>
            <a:ext cx="6381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564285" y="2705695"/>
            <a:ext cx="20557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15~25%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564285" y="3213646"/>
            <a:ext cx="20557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vs 2~3%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4285" y="3470821"/>
            <a:ext cx="20557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전환율 vs 콜드콜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64285" y="3661172"/>
            <a:ext cx="20557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4배 차이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11317" y="1015901"/>
            <a:ext cx="2523083" cy="3061097"/>
          </a:xfrm>
          <a:prstGeom prst="roundRect">
            <a:avLst>
              <a:gd name="adj" fmla="val 5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/Users/kimjimyoung/Documents/projects/bni-edu/ppt_team_agent/assets/icon-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218" y="126980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95318" y="1322189"/>
            <a:ext cx="5902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TRUST RATE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265218" y="2689920"/>
            <a:ext cx="2055587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B8C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92%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6265218" y="3442395"/>
            <a:ext cx="20555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지인 추천 신뢰율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65218" y="3632746"/>
            <a:ext cx="20555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vs 온라인 광고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33%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09600" y="4254698"/>
            <a:ext cx="7924800" cy="431602"/>
          </a:xfrm>
          <a:prstGeom prst="roundRect">
            <a:avLst>
              <a:gd name="adj" fmla="val 17655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/Users/kimjimyoung/Documents/projects/bni-edu/ppt_team_agent/assets/icon-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01" y="4381649"/>
            <a:ext cx="177701" cy="17770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68152" y="4389537"/>
            <a:ext cx="31051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정보를 무료로 만들수록, 신뢰의 가격은 올라갑니다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7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457200"/>
            <a:ext cx="407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일자리의 85%는 네트워킹으로 채워진다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98966" y="538163"/>
            <a:ext cx="1381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1015901"/>
            <a:ext cx="2539901" cy="3670399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0828" y="1955750"/>
            <a:ext cx="1837444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689050" y="3203525"/>
            <a:ext cx="381000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71310" y="3381226"/>
            <a:ext cx="1016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LinkedIn 3,000명+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67969" y="3584377"/>
            <a:ext cx="10231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네트워킹으로 채용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3402" y="1015901"/>
            <a:ext cx="5130998" cy="146699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57302" y="1419225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91396" y="1582638"/>
            <a:ext cx="39985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484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0803" y="1569988"/>
            <a:ext cx="1282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지원자 비율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0803" y="1776264"/>
            <a:ext cx="1282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지원자의 7%에 불과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3402" y="2609850"/>
            <a:ext cx="5130998" cy="146699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57302" y="3013174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EEFA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92575" y="3176588"/>
            <a:ext cx="60160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8C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0803" y="3163937"/>
            <a:ext cx="1629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채용 비율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0803" y="3370213"/>
            <a:ext cx="1629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추천이 실제 채용의 40%를 차지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3402" y="4203799"/>
            <a:ext cx="5130998" cy="482501"/>
          </a:xfrm>
          <a:prstGeom prst="roundRect">
            <a:avLst>
              <a:gd name="adj" fmla="val 21057"/>
            </a:avLst>
          </a:prstGeom>
          <a:solidFill>
            <a:srgbClr val="FDF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/Users/kimjimyoung/Documents/projects/bni-edu/ppt_team_agent/assets/icon-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02" y="4356199"/>
            <a:ext cx="177701" cy="17770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961954" y="4356199"/>
            <a:ext cx="246591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채용 필터(ATS) 강화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내부 추천의 가치 상승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imjimyoung/Documents/projects/bni-edu/ppt_team_agent/assets/icon-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82650"/>
            <a:ext cx="253901" cy="253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457200"/>
            <a:ext cx="29611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여러분이 하고 있는 것의 가치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409980" y="538163"/>
            <a:ext cx="126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600" y="1015901"/>
            <a:ext cx="3873550" cy="1555552"/>
          </a:xfrm>
          <a:prstGeom prst="roundRect">
            <a:avLst>
              <a:gd name="adj" fmla="val 816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5802" y="1295251"/>
            <a:ext cx="3381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지난 12개월 추천 수익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5802" y="1469827"/>
            <a:ext cx="338114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40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$26.4B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55802" y="2130177"/>
            <a:ext cx="33811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</a:t>
            </a:r>
            <a:pPr algn="ctr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35조원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0850" y="1015901"/>
            <a:ext cx="3873550" cy="1555552"/>
          </a:xfrm>
          <a:prstGeom prst="roundRect">
            <a:avLst>
              <a:gd name="adj" fmla="val 816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07052" y="1295251"/>
            <a:ext cx="3381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전달된 추천 건수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07052" y="1469827"/>
            <a:ext cx="338114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4000" b="1" dirty="0">
                <a:solidFill>
                  <a:srgbClr val="2B8C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1,740만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907052" y="2130177"/>
            <a:ext cx="33811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9600" y="2774603"/>
            <a:ext cx="7924800" cy="1265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/Users/kimjimyoung/Documents/projects/bni-edu/ppt_team_agent/assets/deco-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90255"/>
            <a:ext cx="355550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17550" y="2964954"/>
            <a:ext cx="366228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추천 한 건 = 내 평판을 걸고 누군가를 보증하는 행위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17550" y="3325713"/>
            <a:ext cx="3662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절대 만들 수 없는 것.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여러분이 매주 하고 있는 것.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558701"/>
            <a:ext cx="22801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6301" y="809476"/>
            <a:ext cx="253901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4441924"/>
            <a:ext cx="22801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CALL TO ACTION</a:t>
            </a:r>
            <a:endParaRPr lang="en-US" sz="900" dirty="0"/>
          </a:p>
        </p:txBody>
      </p:sp>
      <p:pic>
        <p:nvPicPr>
          <p:cNvPr id="5" name="Image 0" descr="/Users/kimjimyoung/Documents/projects/bni-edu/ppt_team_agent/assets/icon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47465"/>
            <a:ext cx="406301" cy="406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858417"/>
            <a:ext cx="497433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AI시대,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0" y="2655838"/>
            <a:ext cx="497433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확실한 투자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0" y="3554760"/>
            <a:ext cx="507950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57600" y="3833961"/>
            <a:ext cx="4974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오늘부터 할 수 있는 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38937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절약해준 시간을 </a:t>
            </a:r>
            <a:pPr algn="l" indent="0" marL="0">
              <a:buNone/>
            </a:pPr>
            <a:r>
              <a:rPr lang="en-US" sz="18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사람에게 투자하세요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99562" y="523875"/>
            <a:ext cx="13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936575"/>
            <a:ext cx="910977" cy="289471"/>
          </a:xfrm>
          <a:prstGeom prst="roundRect">
            <a:avLst>
              <a:gd name="adj" fmla="val 1754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012775"/>
            <a:ext cx="51477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1-1-1 RULE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22078" y="1074986"/>
            <a:ext cx="6912322" cy="1265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403747"/>
            <a:ext cx="2523083" cy="2672953"/>
          </a:xfrm>
          <a:prstGeom prst="roundRect">
            <a:avLst>
              <a:gd name="adj" fmla="val 5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kimjimyoung/Documents/projects/bni-edu/ppt_team_agent/assets/badg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67" y="1657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0267" y="22417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01916" y="2511623"/>
            <a:ext cx="53845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1명에게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33604" y="2887563"/>
            <a:ext cx="67507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먼저 연락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10384" y="1403747"/>
            <a:ext cx="2523232" cy="2672953"/>
          </a:xfrm>
          <a:prstGeom prst="roundRect">
            <a:avLst>
              <a:gd name="adj" fmla="val 50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kimjimyoung/Documents/projects/bni-edu/ppt_team_agent/assets/badge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576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71051" y="22417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매주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302700" y="2511623"/>
            <a:ext cx="53845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1시간을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156055" y="2887563"/>
            <a:ext cx="83189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만남에 투자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11317" y="1403747"/>
            <a:ext cx="2523083" cy="2672953"/>
          </a:xfrm>
          <a:prstGeom prst="roundRect">
            <a:avLst>
              <a:gd name="adj" fmla="val 5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Users/kimjimyoung/Documents/projects/bni-edu/ppt_team_agent/assets/badge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184" y="16576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1036" y="2241798"/>
            <a:ext cx="403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만남마다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822835" y="2511623"/>
            <a:ext cx="89989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1가지 도움을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35321" y="2887563"/>
            <a:ext cx="67507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먼저 제공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09600" y="4229100"/>
            <a:ext cx="7924800" cy="4572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102173" y="4381500"/>
            <a:ext cx="5420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1년 =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52명</a:t>
            </a:r>
            <a:endParaRPr lang="en-US" sz="1000" dirty="0"/>
          </a:p>
        </p:txBody>
      </p:sp>
      <p:pic>
        <p:nvPicPr>
          <p:cNvPr id="24" name="Image 3" descr="/Users/kimjimyoung/Documents/projects/bni-edu/ppt_team_agent/assets/icon-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789" y="4394150"/>
            <a:ext cx="126950" cy="1269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66890" y="4381500"/>
            <a:ext cx="628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3년 = </a:t>
            </a:r>
            <a:pPr algn="l" indent="0" marL="0">
              <a:buNone/>
            </a:pPr>
            <a:r>
              <a:rPr lang="en-US" sz="10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150명</a:t>
            </a:r>
            <a:endParaRPr lang="en-US" sz="1000" dirty="0"/>
          </a:p>
        </p:txBody>
      </p:sp>
      <p:pic>
        <p:nvPicPr>
          <p:cNvPr id="26" name="Image 4" descr="/Users/kimjimyoung/Documents/projects/bni-edu/ppt_team_agent/assets/icon-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891" y="4394150"/>
            <a:ext cx="126950" cy="1269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15992" y="4381500"/>
            <a:ext cx="740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관계 자본 완성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imjimyoung/Documents/projects/bni-edu/ppt_team_agent/assets/deco-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99" y="304800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16450" y="750243"/>
            <a:ext cx="711101" cy="711101"/>
          </a:xfrm>
          <a:prstGeom prst="roundRect">
            <a:avLst>
              <a:gd name="adj" fmla="val 128589"/>
            </a:avLst>
          </a:prstGeom>
          <a:solidFill>
            <a:srgbClr val="FDF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Users/kimjimyoung/Documents/projects/bni-edu/ppt_team_agent/assets/icon-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53393"/>
            <a:ext cx="304800" cy="30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39633" y="1664494"/>
            <a:ext cx="4864733" cy="462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오늘, 한 사람에게 먼저 연락하세요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317950" y="2329755"/>
            <a:ext cx="507950" cy="25301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395060" y="2558207"/>
            <a:ext cx="23537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3개월 이상 연락 못 한 사람 한 명.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957959" y="3078807"/>
            <a:ext cx="3228082" cy="76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340105" y="3307407"/>
            <a:ext cx="24637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"요즘 어떻게 지내세요?"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795735" y="4094708"/>
            <a:ext cx="3552381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한 줄이 당신의 네트워크를 살리는 </a:t>
            </a:r>
            <a:pPr algn="ctr" indent="0" marL="0">
              <a:lnSpc>
                <a:spcPts val="195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마중물</a:t>
            </a:r>
            <a:pPr algn="ctr" indent="0" marL="0">
              <a:lnSpc>
                <a:spcPts val="195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711101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6430" y="741164"/>
            <a:ext cx="72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5002" y="741164"/>
            <a:ext cx="846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BNI EDUCATION</a:t>
            </a:r>
            <a:endParaRPr lang="en-US" sz="900" dirty="0"/>
          </a:p>
        </p:txBody>
      </p:sp>
      <p:pic>
        <p:nvPicPr>
          <p:cNvPr id="5" name="Image 0" descr="/Users/kimjimyoung/Documents/projects/bni-edu/ppt_team_agent/assets/deco-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99" y="558701"/>
            <a:ext cx="507950" cy="507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0350" y="1571625"/>
            <a:ext cx="7979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AI시대에 가장 비싼 것은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0350" y="1936700"/>
            <a:ext cx="7979765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신뢰입니다.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60350" y="2924473"/>
            <a:ext cx="507950" cy="38100"/>
          </a:xfrm>
          <a:prstGeom prst="rect">
            <a:avLst/>
          </a:prstGeom>
          <a:solidFill>
            <a:srgbClr val="C496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0350" y="3191024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그리고 이 방에 있는 여러분이,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350" y="3584674"/>
            <a:ext cx="79797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신뢰를 만드는 사람들입니다.</a:t>
            </a:r>
            <a:endParaRPr lang="en-US" sz="1400" dirty="0"/>
          </a:p>
        </p:txBody>
      </p:sp>
      <p:pic>
        <p:nvPicPr>
          <p:cNvPr id="11" name="Image 1" descr="/Users/kimjimyoung/Documents/projects/bni-edu/ppt_team_agent/assets/icon-handshak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0" y="4356199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0451" y="4394299"/>
            <a:ext cx="560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401943" y="4441924"/>
            <a:ext cx="833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AI시대에 결국 남는 것은 사람과의 네트워킹이다</dc:title>
  <dc:subject>10분 강의 - 신뢰의 희소성</dc:subject>
  <dc:creator>BNI Education</dc:creator>
  <cp:lastModifiedBy>BNI Education</cp:lastModifiedBy>
  <cp:revision>1</cp:revision>
  <dcterms:created xsi:type="dcterms:W3CDTF">2026-02-24T13:24:36Z</dcterms:created>
  <dcterms:modified xsi:type="dcterms:W3CDTF">2026-02-24T13:24:36Z</dcterms:modified>
</cp:coreProperties>
</file>